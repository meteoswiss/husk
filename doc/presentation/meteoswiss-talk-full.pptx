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emf" ContentType="image/x-emf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 showSpecialPlsOnTitleSld="0">
  <p:sldMasterIdLst>
    <p:sldMasterId id="2147483660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5145088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1" userDrawn="1">
          <p15:clr>
            <a:srgbClr val="A4A3A4"/>
          </p15:clr>
        </p15:guide>
        <p15:guide id="2" pos="28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sz="8721"/>
    <p:restoredTop sz="96327"/>
  </p:normalViewPr>
  <p:slideViewPr>
    <p:cSldViewPr showGuides="1" snapToGrid="0" snapToObjects="1">
      <p:cViewPr varScale="1">
        <p:scale>
          <a:sx d="100" n="167"/>
          <a:sy d="100" n="167"/>
        </p:scale>
        <p:origin x="312" y="132"/>
      </p:cViewPr>
      <p:guideLst>
        <p:guide orient="horz" pos="1621"/>
        <p:guide pos="2881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notesMaster" Target="notesMasters/notesMaster1.xml" /><Relationship Id="rId56" Type="http://schemas.openxmlformats.org/officeDocument/2006/relationships/viewProps" Target="viewProps.xml" /><Relationship Id="rId5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8" Type="http://schemas.openxmlformats.org/officeDocument/2006/relationships/tableStyles" Target="tableStyles.xml" /><Relationship Id="rId5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13D4E0-C465-1042-BEEB-5DE94E6E9099}" type="datetimeFigureOut">
              <a:rPr lang="de-DE" smtClean="0"/>
              <a:t>27.03.2025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E04AF-F65F-E74C-B5E1-0DB102AD05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5203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43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44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5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GRAB: https://www.tomshardware.com/tech-industry/artificial-intelligence/ai-coding-platform-goes-rogue-during-code-freeze-and-deletes-entire-company-database-replit-ceo-apologizes-after-ai-engine-says-it-made-a-catastrophic-error-in-judgment-and-destroyed-all-production-data “A founder let an agent code for 12 days. This is what he woke up to.”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Land the “it lied” beat — that’s the memorable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GRAB left: https://www.theregister.com/2025/07/24/amazon_q_ai_prompt/ GRAB right: https://arxiv.org/pdf/2509.10540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“What did the EchoLeak victim do wrong? Nothing. Reading the email </a:t>
            </a:r>
            <a:r>
              <a:rPr i="1"/>
              <a:t>was</a:t>
            </a:r>
            <a:r>
              <a:rPr/>
              <a:t> the attack.”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Say it sincerely; let the room nod. Then: “It’s exactly what I assumed too. Let’s look at this year, on the current flagship models.”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GRAB left: https://www.theregister.com/2026/04/27/cursoropus_agent_snuffs_out_pocketos/ GRAB right: https://www.securityweek.com/claude-code-gemini-cli-github-copilot-agents-vulnerable-to-prompt-injection-via-comments/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Say “Opus 4.6 — this year, the flagship.” Do NOT say 4.8. Reserve detail: the token it grabbed was over-scoped, in an unrelated file — blast radius = what it could reach, not what it was asked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Replaces vendor survey stats — rigorous and hard to attack. https://genai.owasp.org/llmrisk/llm01-prompt-injection/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Narrate the comic’s punchline aloud (5 of 6 orderings = killbot hellscape); don’t let the room read the grid silently.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fefe, “Das nützlich-unbedenklich Spektrum” (36C3, 2019). Same person who taught me seccomp.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“Every one of these started safe. Nobody chose to build a malware platform — we optimized for useful, one release at a time.”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Localize to the HPC — “why this talk, why here.” Don’t go luddite; next slide 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fefe, “Check your privileges!” (32C3, 2015) — where I first learned seccomp.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PocketOS callback: the agent found an over-scoped token in a file. Unreadable keyring → the hunt comes up 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fefe’s exact seccomp argument. claude-safe really does block io_uring.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Bash vs Read/Write/Edit: the latter are mediated tool calls; Bash is the wildcard, so it’s the part that must be wrapped (and where the cost comes from).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29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Optional ammunition (analytical, not a dig): the Bash(curl*) denies are the blacklist-the-tool antipattern (bypassable); </a:t>
            </a:r>
            <a:r>
              <a:rPr>
                <a:latin typeface="Courier"/>
              </a:rPr>
              <a:t>.env</a:t>
            </a:r>
            <a:r>
              <a:rPr/>
              <a:t> denies cover only the tool door; and every guarantee is delegated to a sandbox that, on Balfrin, doesn’t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Credibility moment: you tried the official path honestly and it broke.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31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why the IT config leaked </a:t>
            </a:r>
            <a:r>
              <a:rPr>
                <a:latin typeface="Courier"/>
              </a:rPr>
              <a:t>.env</a:t>
            </a:r>
            <a:r>
              <a:rPr/>
              <a:t>: tool door locked, Bash door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34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Good news disguised as a problem — proof the cage is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42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File spool because seccomp blocks AF_UNIX — same outside-the-cage trick as uenv.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43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Even a perfect broker for Problem 1 fails if it submits the job as-is. The compute node is a second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44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asked “is it done?”: login-node cage ships (v0.2.1); the SLURM broker is in active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5E04AF-F65F-E74C-B5E1-0DB102AD052B}" type="slidenum">
              <a:rPr lang="en-US"/>
              <a:t>51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56068" y="1590937"/>
            <a:ext cx="6691399" cy="1308646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4500" b="1" i="0" baseline="0"/>
            </a:lvl1pPr>
          </a:lstStyle>
          <a:p>
            <a:r>
              <a:rPr lang="de-DE" dirty="0"/>
              <a:t>Mastertitelformat bearbeiten</a:t>
            </a:r>
            <a:br>
              <a:rPr lang="de-DE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9534" y="3220394"/>
            <a:ext cx="6691399" cy="1242205"/>
          </a:xfrm>
        </p:spPr>
        <p:txBody>
          <a:bodyPr lIns="0" tIns="0" rIns="0" bIns="0"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58FF0-1E8D-F545-9132-114E47C4CC8D}" type="datetime1">
              <a:rPr lang="de-CH" smtClean="0"/>
              <a:t>27.03.2025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FBC618E-D49D-9A58-95A7-C904F42903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2" y="1828801"/>
            <a:ext cx="9055745" cy="3261345"/>
          </a:xfrm>
          <a:prstGeom prst="rect">
            <a:avLst/>
          </a:prstGeom>
        </p:spPr>
      </p:pic>
      <p:pic>
        <p:nvPicPr>
          <p:cNvPr id="10" name="Bild 6">
            <a:extLst>
              <a:ext uri="{FF2B5EF4-FFF2-40B4-BE49-F238E27FC236}">
                <a16:creationId xmlns:a16="http://schemas.microsoft.com/office/drawing/2014/main" id="{396EBC98-C6D0-EFFA-E7AA-FFF4616F3BE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79" y="530013"/>
            <a:ext cx="40132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523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56068" y="1590937"/>
            <a:ext cx="6691399" cy="1308646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4500" b="1" i="0" baseline="0"/>
            </a:lvl1pPr>
          </a:lstStyle>
          <a:p>
            <a:r>
              <a:rPr lang="de-DE" dirty="0"/>
              <a:t>Mastertitelformat bearbeiten</a:t>
            </a:r>
            <a:br>
              <a:rPr lang="de-DE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9534" y="3220394"/>
            <a:ext cx="6691399" cy="1242205"/>
          </a:xfrm>
        </p:spPr>
        <p:txBody>
          <a:bodyPr lIns="0" tIns="0" rIns="0" bIns="0"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58FF0-1E8D-F545-9132-114E47C4CC8D}" type="datetime1">
              <a:rPr lang="de-CH" smtClean="0"/>
              <a:t>27.03.2025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10" name="Bild 6">
            <a:extLst>
              <a:ext uri="{FF2B5EF4-FFF2-40B4-BE49-F238E27FC236}">
                <a16:creationId xmlns:a16="http://schemas.microsoft.com/office/drawing/2014/main" id="{396EBC98-C6D0-EFFA-E7AA-FFF4616F3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79" y="530013"/>
            <a:ext cx="40132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49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E8A2-F43A-114D-8F28-20990F9F62E5}" type="datetime1">
              <a:rPr lang="de-CH" smtClean="0"/>
              <a:t>27.03.2025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81088" y="1384300"/>
            <a:ext cx="7434263" cy="3264511"/>
          </a:xfrm>
        </p:spPr>
        <p:txBody>
          <a:bodyPr lIns="0" tIns="0" rIns="0" bIns="0"/>
          <a:lstStyle/>
          <a:p>
            <a:pPr lvl="0"/>
            <a:r>
              <a:rPr lang="de-DE" dirty="0"/>
              <a:t>Mastertextformat ADF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pic>
        <p:nvPicPr>
          <p:cNvPr id="14" name="Bild 8">
            <a:extLst>
              <a:ext uri="{FF2B5EF4-FFF2-40B4-BE49-F238E27FC236}">
                <a16:creationId xmlns:a16="http://schemas.microsoft.com/office/drawing/2014/main" id="{238A25BE-3181-4923-B97F-67781E8FD4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pic>
        <p:nvPicPr>
          <p:cNvPr id="10" name="Bild 16">
            <a:extLst>
              <a:ext uri="{FF2B5EF4-FFF2-40B4-BE49-F238E27FC236}">
                <a16:creationId xmlns:a16="http://schemas.microsoft.com/office/drawing/2014/main" id="{5F63C5A7-F81A-BA30-3747-89A9655A17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D122F69F-EF6C-CFA6-DD35-356EC952827E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84EF030A-C693-C885-5F10-C1CC8218FAE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035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E8A2-F43A-114D-8F28-20990F9F62E5}" type="datetime1">
              <a:rPr lang="de-CH" smtClean="0"/>
              <a:t>27.03.2025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81088" y="1384300"/>
            <a:ext cx="7434263" cy="3264511"/>
          </a:xfrm>
        </p:spPr>
        <p:txBody>
          <a:bodyPr lIns="0" tIns="0" rIns="0" bIns="0"/>
          <a:lstStyle/>
          <a:p>
            <a:pPr lvl="0"/>
            <a:r>
              <a:rPr lang="de-DE" dirty="0"/>
              <a:t>Mastertextformat ADF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pic>
        <p:nvPicPr>
          <p:cNvPr id="14" name="Bild 8">
            <a:extLst>
              <a:ext uri="{FF2B5EF4-FFF2-40B4-BE49-F238E27FC236}">
                <a16:creationId xmlns:a16="http://schemas.microsoft.com/office/drawing/2014/main" id="{238A25BE-3181-4923-B97F-67781E8FD4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D122F69F-EF6C-CFA6-DD35-356EC952827E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84EF030A-C693-C885-5F10-C1CC8218FA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61C32-75D1-1C46-8385-5BBC01092EB1}" type="datetime1">
              <a:rPr lang="de-CH" smtClean="0"/>
              <a:t>27.03.2025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914E6BF-74AC-6DDD-5E51-3228D3248D1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81089" y="1390825"/>
            <a:ext cx="5052426" cy="2907899"/>
          </a:xfrm>
        </p:spPr>
        <p:txBody>
          <a:bodyPr lIns="0" tIns="0" rIns="0" bIns="0"/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18E900B-A219-1EA5-9044-F4A318FA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2" name="Bild 8">
            <a:extLst>
              <a:ext uri="{FF2B5EF4-FFF2-40B4-BE49-F238E27FC236}">
                <a16:creationId xmlns:a16="http://schemas.microsoft.com/office/drawing/2014/main" id="{6E2367A9-A6A4-5572-FB07-D5B1656D1C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pic>
        <p:nvPicPr>
          <p:cNvPr id="15" name="Bild 16">
            <a:extLst>
              <a:ext uri="{FF2B5EF4-FFF2-40B4-BE49-F238E27FC236}">
                <a16:creationId xmlns:a16="http://schemas.microsoft.com/office/drawing/2014/main" id="{B6C9A937-3994-7389-F609-AFE70282D3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471E803E-BF42-A29C-4E7D-6A83234CEA66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AEA3E3A3-9AFC-EC8D-8004-A4D33E2C83C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06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61C32-75D1-1C46-8385-5BBC01092EB1}" type="datetime1">
              <a:rPr lang="de-CH" smtClean="0"/>
              <a:t>27.03.2025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914E6BF-74AC-6DDD-5E51-3228D3248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1089" y="1390825"/>
            <a:ext cx="5052426" cy="2907899"/>
          </a:xfrm>
        </p:spPr>
        <p:txBody>
          <a:bodyPr lIns="0" tIns="0" rIns="0" bIns="0"/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18E900B-A219-1EA5-9044-F4A318FA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2" name="Bild 8">
            <a:extLst>
              <a:ext uri="{FF2B5EF4-FFF2-40B4-BE49-F238E27FC236}">
                <a16:creationId xmlns:a16="http://schemas.microsoft.com/office/drawing/2014/main" id="{6E2367A9-A6A4-5572-FB07-D5B1656D1C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471E803E-BF42-A29C-4E7D-6A83234CEA66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AEA3E3A3-9AFC-EC8D-8004-A4D33E2C83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582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26367-80BC-0746-9818-A1DF9175A81B}" type="datetime1">
              <a:rPr lang="de-CH" smtClean="0"/>
              <a:t>27.03.2025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2FA127-1D82-CBBD-20B2-9D5EA651D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B3CD3C2-36D9-D8FB-43EE-F245E68E48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1088" y="1393826"/>
            <a:ext cx="7434263" cy="32645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pic>
        <p:nvPicPr>
          <p:cNvPr id="12" name="Bild 8">
            <a:extLst>
              <a:ext uri="{FF2B5EF4-FFF2-40B4-BE49-F238E27FC236}">
                <a16:creationId xmlns:a16="http://schemas.microsoft.com/office/drawing/2014/main" id="{5690821A-C38D-5F99-D6F7-FFD526A347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pic>
        <p:nvPicPr>
          <p:cNvPr id="15" name="Bild 16">
            <a:extLst>
              <a:ext uri="{FF2B5EF4-FFF2-40B4-BE49-F238E27FC236}">
                <a16:creationId xmlns:a16="http://schemas.microsoft.com/office/drawing/2014/main" id="{B1E2D9B8-A67C-D982-E7A0-0B1E52BD7F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81511412-2428-E70C-BBAA-A27E47F23E1E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76399C0D-A765-0E87-50D7-FCC22A524D3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200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26367-80BC-0746-9818-A1DF9175A81B}" type="datetime1">
              <a:rPr lang="de-CH" smtClean="0"/>
              <a:t>27.03.2025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2FA127-1D82-CBBD-20B2-9D5EA651D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B3CD3C2-36D9-D8FB-43EE-F245E68E48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1088" y="1393826"/>
            <a:ext cx="7434263" cy="32645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pic>
        <p:nvPicPr>
          <p:cNvPr id="12" name="Bild 8">
            <a:extLst>
              <a:ext uri="{FF2B5EF4-FFF2-40B4-BE49-F238E27FC236}">
                <a16:creationId xmlns:a16="http://schemas.microsoft.com/office/drawing/2014/main" id="{5690821A-C38D-5F99-D6F7-FFD526A347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81511412-2428-E70C-BBAA-A27E47F23E1E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76399C0D-A765-0E87-50D7-FCC22A524D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84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8EE91-2783-1148-A521-0E751A639B35}" type="datetime1">
              <a:rPr lang="de-CH" smtClean="0"/>
              <a:t>27.03.2025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73893E2-410A-8BCF-53BE-D7677E08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C72B1FE-6CE5-7483-AF4C-7DD31490789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81088" y="1390663"/>
            <a:ext cx="3564484" cy="2907899"/>
          </a:xfrm>
        </p:spPr>
        <p:txBody>
          <a:bodyPr lIns="0" tIns="0" rIns="0" bIns="0"/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D52A117-D324-DD19-A2C3-F5BAC378963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875322" y="1390663"/>
            <a:ext cx="3564484" cy="2907899"/>
          </a:xfrm>
        </p:spPr>
        <p:txBody>
          <a:bodyPr lIns="0" tIns="0" rIns="0" bIns="0"/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3" name="Bild 8">
            <a:extLst>
              <a:ext uri="{FF2B5EF4-FFF2-40B4-BE49-F238E27FC236}">
                <a16:creationId xmlns:a16="http://schemas.microsoft.com/office/drawing/2014/main" id="{9A7F6B3D-6141-33A2-2827-BEECBC5CA5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pic>
        <p:nvPicPr>
          <p:cNvPr id="16" name="Bild 16">
            <a:extLst>
              <a:ext uri="{FF2B5EF4-FFF2-40B4-BE49-F238E27FC236}">
                <a16:creationId xmlns:a16="http://schemas.microsoft.com/office/drawing/2014/main" id="{E26FCD14-552F-2E62-C20F-2897AF1A94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9C804BDA-8F8A-74EE-EF9E-1E4D38C697FF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8" name="Bild 64">
            <a:extLst>
              <a:ext uri="{FF2B5EF4-FFF2-40B4-BE49-F238E27FC236}">
                <a16:creationId xmlns:a16="http://schemas.microsoft.com/office/drawing/2014/main" id="{7C720268-9BF1-42D1-A69F-AA022F8174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417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8EE91-2783-1148-A521-0E751A639B35}" type="datetime1">
              <a:rPr lang="de-CH" smtClean="0"/>
              <a:t>27.03.2025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73893E2-410A-8BCF-53BE-D7677E08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C72B1FE-6CE5-7483-AF4C-7DD31490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088" y="1390663"/>
            <a:ext cx="3564484" cy="2907899"/>
          </a:xfrm>
        </p:spPr>
        <p:txBody>
          <a:bodyPr lIns="0" tIns="0" rIns="0" bIns="0"/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D52A117-D324-DD19-A2C3-F5BAC378963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875322" y="1390663"/>
            <a:ext cx="3564484" cy="2907899"/>
          </a:xfrm>
        </p:spPr>
        <p:txBody>
          <a:bodyPr lIns="0" tIns="0" rIns="0" bIns="0"/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3" name="Bild 8">
            <a:extLst>
              <a:ext uri="{FF2B5EF4-FFF2-40B4-BE49-F238E27FC236}">
                <a16:creationId xmlns:a16="http://schemas.microsoft.com/office/drawing/2014/main" id="{9A7F6B3D-6141-33A2-2827-BEECBC5CA5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9C804BDA-8F8A-74EE-EF9E-1E4D38C697FF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8" name="Bild 64">
            <a:extLst>
              <a:ext uri="{FF2B5EF4-FFF2-40B4-BE49-F238E27FC236}">
                <a16:creationId xmlns:a16="http://schemas.microsoft.com/office/drawing/2014/main" id="{7C720268-9BF1-42D1-A69F-AA022F8174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825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A45B-5993-6C48-BB53-49F48083B0E7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DE35F2C8-97AF-CFCC-1160-5294514B78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1089" y="1389063"/>
            <a:ext cx="6796086" cy="27955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E8447DC-457D-F21B-32F2-EEE7A6D70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2" name="Bild 8">
            <a:extLst>
              <a:ext uri="{FF2B5EF4-FFF2-40B4-BE49-F238E27FC236}">
                <a16:creationId xmlns:a16="http://schemas.microsoft.com/office/drawing/2014/main" id="{3A24BDAB-BABC-0DAA-32BF-B48F588F70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pic>
        <p:nvPicPr>
          <p:cNvPr id="16" name="Bild 16">
            <a:extLst>
              <a:ext uri="{FF2B5EF4-FFF2-40B4-BE49-F238E27FC236}">
                <a16:creationId xmlns:a16="http://schemas.microsoft.com/office/drawing/2014/main" id="{5DA34FEC-2E0D-10F3-D726-394DB08219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56F20275-50ED-B0EC-F459-6B869A8F941F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8" name="Bild 64">
            <a:extLst>
              <a:ext uri="{FF2B5EF4-FFF2-40B4-BE49-F238E27FC236}">
                <a16:creationId xmlns:a16="http://schemas.microsoft.com/office/drawing/2014/main" id="{B3C904F2-AA6B-E020-A964-F2EE16F441F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590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A45B-5993-6C48-BB53-49F48083B0E7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DE35F2C8-97AF-CFCC-1160-5294514B78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1089" y="1389063"/>
            <a:ext cx="6796086" cy="27955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E8447DC-457D-F21B-32F2-EEE7A6D70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2" name="Bild 8">
            <a:extLst>
              <a:ext uri="{FF2B5EF4-FFF2-40B4-BE49-F238E27FC236}">
                <a16:creationId xmlns:a16="http://schemas.microsoft.com/office/drawing/2014/main" id="{3A24BDAB-BABC-0DAA-32BF-B48F588F70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56F20275-50ED-B0EC-F459-6B869A8F941F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8" name="Bild 64">
            <a:extLst>
              <a:ext uri="{FF2B5EF4-FFF2-40B4-BE49-F238E27FC236}">
                <a16:creationId xmlns:a16="http://schemas.microsoft.com/office/drawing/2014/main" id="{B3C904F2-AA6B-E020-A964-F2EE16F441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615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44591" y="1389063"/>
            <a:ext cx="4170760" cy="285957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041" y="1395018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4CD9B-14F7-914A-A9E0-25EA8133813F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EA80C68-A03D-14E1-DA41-A04FFB0D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1" name="Bild 8">
            <a:extLst>
              <a:ext uri="{FF2B5EF4-FFF2-40B4-BE49-F238E27FC236}">
                <a16:creationId xmlns:a16="http://schemas.microsoft.com/office/drawing/2014/main" id="{B918451D-CC78-5BEF-C4C9-D07CAE749B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pic>
        <p:nvPicPr>
          <p:cNvPr id="15" name="Bild 16">
            <a:extLst>
              <a:ext uri="{FF2B5EF4-FFF2-40B4-BE49-F238E27FC236}">
                <a16:creationId xmlns:a16="http://schemas.microsoft.com/office/drawing/2014/main" id="{0EBAA305-66FB-EB18-E0EF-5FAF4C97E9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4C70312E-10CF-1967-13BA-DF7A5F15103B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5AB2CA36-EA72-B637-1DFA-CBB69A7DA7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797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44591" y="1389063"/>
            <a:ext cx="4170760" cy="285957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041" y="1395018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4CD9B-14F7-914A-A9E0-25EA8133813F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EA80C68-A03D-14E1-DA41-A04FFB0D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1" name="Bild 8">
            <a:extLst>
              <a:ext uri="{FF2B5EF4-FFF2-40B4-BE49-F238E27FC236}">
                <a16:creationId xmlns:a16="http://schemas.microsoft.com/office/drawing/2014/main" id="{B918451D-CC78-5BEF-C4C9-D07CAE749B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4C70312E-10CF-1967-13BA-DF7A5F15103B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5AB2CA36-EA72-B637-1DFA-CBB69A7DA75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587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A462F-1003-E444-A3AF-18EAC31016EB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EA80C68-A03D-14E1-DA41-A04FFB0D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1" name="Bild 8">
            <a:extLst>
              <a:ext uri="{FF2B5EF4-FFF2-40B4-BE49-F238E27FC236}">
                <a16:creationId xmlns:a16="http://schemas.microsoft.com/office/drawing/2014/main" id="{B918451D-CC78-5BEF-C4C9-D07CAE749B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FDE88454-2D30-37DD-548F-FA0F7B27EFC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12587403"/>
              </p:ext>
            </p:extLst>
          </p:nvPr>
        </p:nvGraphicFramePr>
        <p:xfrm>
          <a:off x="1081088" y="1307484"/>
          <a:ext cx="6371673" cy="3096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3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7128">
                <a:tc>
                  <a:txBody>
                    <a:bodyPr/>
                    <a:lstStyle/>
                    <a:p>
                      <a:r>
                        <a:rPr lang="de-CH" sz="1400" b="1" dirty="0">
                          <a:solidFill>
                            <a:srgbClr val="000000"/>
                          </a:solidFill>
                        </a:rPr>
                        <a:t>Publikationstitel</a:t>
                      </a:r>
                      <a:r>
                        <a:rPr lang="de-CH" sz="1400" b="1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de-CH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400" dirty="0">
                          <a:solidFill>
                            <a:srgbClr val="000000"/>
                          </a:solidFill>
                        </a:rPr>
                        <a:t>Beurteilung</a:t>
                      </a:r>
                      <a:r>
                        <a:rPr lang="de-CH" sz="1400" baseline="0" dirty="0">
                          <a:solidFill>
                            <a:srgbClr val="000000"/>
                          </a:solidFill>
                        </a:rPr>
                        <a:t> / Kommentar / Veränderung</a:t>
                      </a:r>
                      <a:endParaRPr lang="de-CH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71">
                <a:tc>
                  <a:txBody>
                    <a:bodyPr/>
                    <a:lstStyle/>
                    <a:p>
                      <a:r>
                        <a:rPr lang="de-CH" sz="1300" dirty="0"/>
                        <a:t>Typische</a:t>
                      </a:r>
                      <a:r>
                        <a:rPr lang="de-CH" sz="1300" baseline="0" dirty="0"/>
                        <a:t> </a:t>
                      </a:r>
                      <a:r>
                        <a:rPr lang="de-CH" sz="1300" baseline="0" dirty="0">
                          <a:solidFill>
                            <a:schemeClr val="dk1"/>
                          </a:solidFill>
                        </a:rPr>
                        <a:t>Wetterlagen</a:t>
                      </a:r>
                      <a:r>
                        <a:rPr lang="de-CH" sz="1300" baseline="0" dirty="0"/>
                        <a:t> […]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In</a:t>
                      </a:r>
                      <a:r>
                        <a:rPr lang="de-CH" sz="1300" baseline="0" dirty="0"/>
                        <a:t> Überarbeitung (Design + Inhalt) für Landesmuseum; iPad-Version, evtl. Video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253">
                <a:tc>
                  <a:txBody>
                    <a:bodyPr/>
                    <a:lstStyle/>
                    <a:p>
                      <a:r>
                        <a:rPr lang="de-CH" sz="1300" dirty="0"/>
                        <a:t>Wissenschaftliche</a:t>
                      </a:r>
                      <a:r>
                        <a:rPr lang="de-CH" sz="1300" baseline="0" dirty="0"/>
                        <a:t> Berichte, Klimaberichte, Klimabulletin, Broschüren INZ, Produkte-</a:t>
                      </a:r>
                      <a:r>
                        <a:rPr lang="de-CH" sz="1300" baseline="0" dirty="0" err="1"/>
                        <a:t>Factsheets</a:t>
                      </a:r>
                      <a:r>
                        <a:rPr lang="de-CH" sz="1300" baseline="0" dirty="0"/>
                        <a:t>, 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Vorlagen in Erarbeitung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52">
                <a:tc>
                  <a:txBody>
                    <a:bodyPr/>
                    <a:lstStyle/>
                    <a:p>
                      <a:r>
                        <a:rPr lang="de-CH" sz="1300" dirty="0"/>
                        <a:t>Flugwetterinformationen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baseline="0" dirty="0"/>
                        <a:t>Neues Design – Erledigt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52">
                <a:tc>
                  <a:txBody>
                    <a:bodyPr/>
                    <a:lstStyle/>
                    <a:p>
                      <a:r>
                        <a:rPr lang="de-CH" sz="1300" dirty="0"/>
                        <a:t>Vorlagen</a:t>
                      </a:r>
                      <a:r>
                        <a:rPr lang="de-CH" sz="1300" baseline="0" dirty="0"/>
                        <a:t> </a:t>
                      </a:r>
                      <a:r>
                        <a:rPr lang="de-CH" sz="1300" baseline="0" dirty="0" err="1"/>
                        <a:t>Factsheets</a:t>
                      </a:r>
                      <a:r>
                        <a:rPr lang="de-CH" sz="1300" baseline="0" dirty="0"/>
                        <a:t> S/L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baseline="0" dirty="0"/>
                        <a:t>Neues Design – Erledigt 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651">
                <a:tc>
                  <a:txBody>
                    <a:bodyPr/>
                    <a:lstStyle/>
                    <a:p>
                      <a:r>
                        <a:rPr lang="de-CH" sz="1300" dirty="0"/>
                        <a:t>Klimafaltblatt Tag für Tag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Neues Design</a:t>
                      </a:r>
                      <a:r>
                        <a:rPr lang="de-CH" sz="1300" baseline="0" dirty="0"/>
                        <a:t> – Erledigt 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630">
                <a:tc>
                  <a:txBody>
                    <a:bodyPr/>
                    <a:lstStyle/>
                    <a:p>
                      <a:r>
                        <a:rPr lang="de-CH" sz="1300" dirty="0"/>
                        <a:t>Jahresbericht, Imagebroschüren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Gelöscht</a:t>
                      </a:r>
                      <a:r>
                        <a:rPr lang="de-CH" sz="1300" baseline="0" dirty="0"/>
                        <a:t> 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2" name="Bild 16">
            <a:extLst>
              <a:ext uri="{FF2B5EF4-FFF2-40B4-BE49-F238E27FC236}">
                <a16:creationId xmlns:a16="http://schemas.microsoft.com/office/drawing/2014/main" id="{193992EE-9B1B-4A2E-383E-FB4BAFEA3A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003D03F9-FBDE-6275-2232-F211F5B6F94D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4" name="Bild 64">
            <a:extLst>
              <a:ext uri="{FF2B5EF4-FFF2-40B4-BE49-F238E27FC236}">
                <a16:creationId xmlns:a16="http://schemas.microsoft.com/office/drawing/2014/main" id="{DDB8EA7E-B1D2-4F2A-F670-7E0A4148CF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270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A462F-1003-E444-A3AF-18EAC31016EB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EA80C68-A03D-14E1-DA41-A04FFB0D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1" name="Bild 8">
            <a:extLst>
              <a:ext uri="{FF2B5EF4-FFF2-40B4-BE49-F238E27FC236}">
                <a16:creationId xmlns:a16="http://schemas.microsoft.com/office/drawing/2014/main" id="{B918451D-CC78-5BEF-C4C9-D07CAE749B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FDE88454-2D30-37DD-548F-FA0F7B27EFC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12587403"/>
              </p:ext>
            </p:extLst>
          </p:nvPr>
        </p:nvGraphicFramePr>
        <p:xfrm>
          <a:off x="1081088" y="1307484"/>
          <a:ext cx="6371673" cy="3096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3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7128">
                <a:tc>
                  <a:txBody>
                    <a:bodyPr/>
                    <a:lstStyle/>
                    <a:p>
                      <a:r>
                        <a:rPr lang="de-CH" sz="1400" b="1" dirty="0">
                          <a:solidFill>
                            <a:srgbClr val="000000"/>
                          </a:solidFill>
                        </a:rPr>
                        <a:t>Publikationstitel</a:t>
                      </a:r>
                      <a:r>
                        <a:rPr lang="de-CH" sz="1400" b="1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de-CH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400" dirty="0">
                          <a:solidFill>
                            <a:srgbClr val="000000"/>
                          </a:solidFill>
                        </a:rPr>
                        <a:t>Beurteilung</a:t>
                      </a:r>
                      <a:r>
                        <a:rPr lang="de-CH" sz="1400" baseline="0" dirty="0">
                          <a:solidFill>
                            <a:srgbClr val="000000"/>
                          </a:solidFill>
                        </a:rPr>
                        <a:t> / Kommentar / Veränderung</a:t>
                      </a:r>
                      <a:endParaRPr lang="de-CH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71">
                <a:tc>
                  <a:txBody>
                    <a:bodyPr/>
                    <a:lstStyle/>
                    <a:p>
                      <a:r>
                        <a:rPr lang="de-CH" sz="1300" dirty="0"/>
                        <a:t>Typische</a:t>
                      </a:r>
                      <a:r>
                        <a:rPr lang="de-CH" sz="1300" baseline="0" dirty="0"/>
                        <a:t> </a:t>
                      </a:r>
                      <a:r>
                        <a:rPr lang="de-CH" sz="1300" baseline="0" dirty="0">
                          <a:solidFill>
                            <a:schemeClr val="dk1"/>
                          </a:solidFill>
                        </a:rPr>
                        <a:t>Wetterlagen</a:t>
                      </a:r>
                      <a:r>
                        <a:rPr lang="de-CH" sz="1300" baseline="0" dirty="0"/>
                        <a:t> […]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In</a:t>
                      </a:r>
                      <a:r>
                        <a:rPr lang="de-CH" sz="1300" baseline="0" dirty="0"/>
                        <a:t> Überarbeitung (Design + Inhalt) für Landesmuseum; iPad-Version, evtl. Video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253">
                <a:tc>
                  <a:txBody>
                    <a:bodyPr/>
                    <a:lstStyle/>
                    <a:p>
                      <a:r>
                        <a:rPr lang="de-CH" sz="1300" dirty="0"/>
                        <a:t>Wissenschaftliche</a:t>
                      </a:r>
                      <a:r>
                        <a:rPr lang="de-CH" sz="1300" baseline="0" dirty="0"/>
                        <a:t> Berichte, Klimaberichte, Klimabulletin, Broschüren INZ, Produkte-</a:t>
                      </a:r>
                      <a:r>
                        <a:rPr lang="de-CH" sz="1300" baseline="0" dirty="0" err="1"/>
                        <a:t>Factsheets</a:t>
                      </a:r>
                      <a:r>
                        <a:rPr lang="de-CH" sz="1300" baseline="0" dirty="0"/>
                        <a:t>, 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Vorlagen in Erarbeitung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52">
                <a:tc>
                  <a:txBody>
                    <a:bodyPr/>
                    <a:lstStyle/>
                    <a:p>
                      <a:r>
                        <a:rPr lang="de-CH" sz="1300" dirty="0"/>
                        <a:t>Flugwetterinformationen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baseline="0" dirty="0"/>
                        <a:t>Neues Design – Erledigt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52">
                <a:tc>
                  <a:txBody>
                    <a:bodyPr/>
                    <a:lstStyle/>
                    <a:p>
                      <a:r>
                        <a:rPr lang="de-CH" sz="1300" dirty="0"/>
                        <a:t>Vorlagen</a:t>
                      </a:r>
                      <a:r>
                        <a:rPr lang="de-CH" sz="1300" baseline="0" dirty="0"/>
                        <a:t> </a:t>
                      </a:r>
                      <a:r>
                        <a:rPr lang="de-CH" sz="1300" baseline="0" dirty="0" err="1"/>
                        <a:t>Factsheets</a:t>
                      </a:r>
                      <a:r>
                        <a:rPr lang="de-CH" sz="1300" baseline="0" dirty="0"/>
                        <a:t> S/L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baseline="0" dirty="0"/>
                        <a:t>Neues Design – Erledigt 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651">
                <a:tc>
                  <a:txBody>
                    <a:bodyPr/>
                    <a:lstStyle/>
                    <a:p>
                      <a:r>
                        <a:rPr lang="de-CH" sz="1300" dirty="0"/>
                        <a:t>Klimafaltblatt Tag für Tag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Neues Design</a:t>
                      </a:r>
                      <a:r>
                        <a:rPr lang="de-CH" sz="1300" baseline="0" dirty="0"/>
                        <a:t> – Erledigt 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630">
                <a:tc>
                  <a:txBody>
                    <a:bodyPr/>
                    <a:lstStyle/>
                    <a:p>
                      <a:r>
                        <a:rPr lang="de-CH" sz="1300" dirty="0"/>
                        <a:t>Jahresbericht, Imagebroschüren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Gelöscht</a:t>
                      </a:r>
                      <a:r>
                        <a:rPr lang="de-CH" sz="1300" baseline="0" dirty="0"/>
                        <a:t> 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chteck 12">
            <a:extLst>
              <a:ext uri="{FF2B5EF4-FFF2-40B4-BE49-F238E27FC236}">
                <a16:creationId xmlns:a16="http://schemas.microsoft.com/office/drawing/2014/main" id="{003D03F9-FBDE-6275-2232-F211F5B6F94D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4" name="Bild 64">
            <a:extLst>
              <a:ext uri="{FF2B5EF4-FFF2-40B4-BE49-F238E27FC236}">
                <a16:creationId xmlns:a16="http://schemas.microsoft.com/office/drawing/2014/main" id="{DDB8EA7E-B1D2-4F2A-F670-7E0A4148CF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193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E5BEB0CA-906F-409F-1B54-843D02C2E60D}"/>
              </a:ext>
            </a:extLst>
          </p:cNvPr>
          <p:cNvSpPr/>
          <p:nvPr userDrawn="1"/>
        </p:nvSpPr>
        <p:spPr bwMode="auto">
          <a:xfrm>
            <a:off x="-4763" y="0"/>
            <a:ext cx="9144000" cy="5145088"/>
          </a:xfrm>
          <a:prstGeom prst="rect">
            <a:avLst/>
          </a:prstGeom>
          <a:solidFill>
            <a:srgbClr val="7D6E5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2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0009" y="1384300"/>
            <a:ext cx="6895196" cy="2754148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A9695-83A3-FA41-A413-1EBBBC62BA68}" type="datetime1">
              <a:rPr lang="de-CH" smtClean="0"/>
              <a:t>27.03.2025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390903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7701-065A-974E-A697-F81C2E24598B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pic>
        <p:nvPicPr>
          <p:cNvPr id="19" name="Bild 6">
            <a:extLst>
              <a:ext uri="{FF2B5EF4-FFF2-40B4-BE49-F238E27FC236}">
                <a16:creationId xmlns:a16="http://schemas.microsoft.com/office/drawing/2014/main" id="{893BF373-E10F-AD8E-5FAF-925CFDB10D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79" y="530013"/>
            <a:ext cx="4013200" cy="609600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EEB0317E-DB6A-835D-1A8A-86A1BF8E0697}"/>
              </a:ext>
            </a:extLst>
          </p:cNvPr>
          <p:cNvSpPr/>
          <p:nvPr userDrawn="1"/>
        </p:nvSpPr>
        <p:spPr>
          <a:xfrm>
            <a:off x="1078706" y="1584000"/>
            <a:ext cx="3441290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b="1" dirty="0" err="1">
                <a:solidFill>
                  <a:srgbClr val="000000"/>
                </a:solidFill>
                <a:latin typeface="Arial" charset="0"/>
              </a:rPr>
              <a:t>MeteoSchweiz</a:t>
            </a:r>
            <a:r>
              <a:rPr lang="de-DE" sz="1600" b="1" dirty="0">
                <a:solidFill>
                  <a:srgbClr val="000000"/>
                </a:solidFill>
                <a:latin typeface="Arial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dirty="0">
                <a:solidFill>
                  <a:srgbClr val="000000"/>
                </a:solidFill>
                <a:latin typeface="Arial" charset="0"/>
              </a:rPr>
              <a:t>Operation Center 1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dirty="0">
                <a:solidFill>
                  <a:srgbClr val="000000"/>
                </a:solidFill>
                <a:latin typeface="Arial" charset="0"/>
              </a:rPr>
              <a:t>CH-8058 Zürich-Flughafen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dirty="0">
                <a:solidFill>
                  <a:srgbClr val="000000"/>
                </a:solidFill>
                <a:latin typeface="Arial" charset="0"/>
              </a:rPr>
              <a:t>T +41 58 460 91 11 www.meteoschweiz.ch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BFAF226-128B-E78B-13FE-C7DC714BD092}"/>
              </a:ext>
            </a:extLst>
          </p:cNvPr>
          <p:cNvSpPr/>
          <p:nvPr userDrawn="1"/>
        </p:nvSpPr>
        <p:spPr>
          <a:xfrm>
            <a:off x="1085416" y="3168000"/>
            <a:ext cx="228401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="1" baseline="0" dirty="0" err="1">
                <a:solidFill>
                  <a:srgbClr val="000000"/>
                </a:solidFill>
                <a:latin typeface="Arial" charset="0"/>
              </a:rPr>
              <a:t>MeteoSvizzera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Via ai Monti 146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CH-6605 Locarno-Monti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T +41 58 460 92 22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www.meteosvizzera.ch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6187216-DEAC-F5FA-68CB-BA2261CBFE36}"/>
              </a:ext>
            </a:extLst>
          </p:cNvPr>
          <p:cNvSpPr/>
          <p:nvPr userDrawn="1"/>
        </p:nvSpPr>
        <p:spPr>
          <a:xfrm>
            <a:off x="3815318" y="3168000"/>
            <a:ext cx="20054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="1" baseline="0" dirty="0" err="1">
                <a:solidFill>
                  <a:srgbClr val="000000"/>
                </a:solidFill>
                <a:latin typeface="Arial" charset="0"/>
              </a:rPr>
              <a:t>MétéoSuisse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7bis, </a:t>
            </a: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av</a:t>
            </a: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. de la </a:t>
            </a: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Paix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aseline="0" dirty="0">
                <a:solidFill>
                  <a:srgbClr val="000000"/>
                </a:solidFill>
                <a:latin typeface="Arial" charset="0"/>
              </a:rPr>
              <a:t>CH-1211 Genève 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aseline="0" dirty="0">
                <a:solidFill>
                  <a:srgbClr val="000000"/>
                </a:solidFill>
                <a:latin typeface="Arial" charset="0"/>
              </a:rPr>
              <a:t>T +41 58 460 98 88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aseline="0" dirty="0" err="1">
                <a:solidFill>
                  <a:srgbClr val="000000"/>
                </a:solidFill>
                <a:latin typeface="Arial" charset="0"/>
              </a:rPr>
              <a:t>www.meteosuisse.ch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A9786B3-82E8-AF3F-6DF7-DA34AEF004F9}"/>
              </a:ext>
            </a:extLst>
          </p:cNvPr>
          <p:cNvSpPr/>
          <p:nvPr userDrawn="1"/>
        </p:nvSpPr>
        <p:spPr>
          <a:xfrm>
            <a:off x="6285468" y="3168000"/>
            <a:ext cx="210293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="1" baseline="0" dirty="0" err="1">
                <a:solidFill>
                  <a:srgbClr val="000000"/>
                </a:solidFill>
                <a:latin typeface="Arial" charset="0"/>
              </a:rPr>
              <a:t>MétéoSuisse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Chemin</a:t>
            </a: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 de </a:t>
            </a: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l‘Aérologie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CH-1530 Payerne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T +41 58 460 94 44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www.meteosuisse.ch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28" name="Bild 16">
            <a:extLst>
              <a:ext uri="{FF2B5EF4-FFF2-40B4-BE49-F238E27FC236}">
                <a16:creationId xmlns:a16="http://schemas.microsoft.com/office/drawing/2014/main" id="{21C2E1E4-5896-938E-3548-8A789D3CBE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29" name="Rechteck 28">
            <a:extLst>
              <a:ext uri="{FF2B5EF4-FFF2-40B4-BE49-F238E27FC236}">
                <a16:creationId xmlns:a16="http://schemas.microsoft.com/office/drawing/2014/main" id="{34FAB3CA-F284-7462-AB5A-6D6B7C32E51E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30" name="Bild 64">
            <a:extLst>
              <a:ext uri="{FF2B5EF4-FFF2-40B4-BE49-F238E27FC236}">
                <a16:creationId xmlns:a16="http://schemas.microsoft.com/office/drawing/2014/main" id="{EC5949C4-F460-BD40-6374-7387BAA965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8755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7701-065A-974E-A697-F81C2E24598B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pic>
        <p:nvPicPr>
          <p:cNvPr id="19" name="Bild 6">
            <a:extLst>
              <a:ext uri="{FF2B5EF4-FFF2-40B4-BE49-F238E27FC236}">
                <a16:creationId xmlns:a16="http://schemas.microsoft.com/office/drawing/2014/main" id="{893BF373-E10F-AD8E-5FAF-925CFDB10D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79" y="530013"/>
            <a:ext cx="4013200" cy="609600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EEB0317E-DB6A-835D-1A8A-86A1BF8E0697}"/>
              </a:ext>
            </a:extLst>
          </p:cNvPr>
          <p:cNvSpPr/>
          <p:nvPr userDrawn="1"/>
        </p:nvSpPr>
        <p:spPr>
          <a:xfrm>
            <a:off x="1078706" y="1584000"/>
            <a:ext cx="3441290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b="1" dirty="0" err="1">
                <a:solidFill>
                  <a:srgbClr val="000000"/>
                </a:solidFill>
                <a:latin typeface="Arial" charset="0"/>
              </a:rPr>
              <a:t>MeteoSchweiz</a:t>
            </a:r>
            <a:r>
              <a:rPr lang="de-DE" sz="1600" b="1" dirty="0">
                <a:solidFill>
                  <a:srgbClr val="000000"/>
                </a:solidFill>
                <a:latin typeface="Arial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dirty="0">
                <a:solidFill>
                  <a:srgbClr val="000000"/>
                </a:solidFill>
                <a:latin typeface="Arial" charset="0"/>
              </a:rPr>
              <a:t>Operation Center 1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dirty="0">
                <a:solidFill>
                  <a:srgbClr val="000000"/>
                </a:solidFill>
                <a:latin typeface="Arial" charset="0"/>
              </a:rPr>
              <a:t>CH-8058 Zürich-Flughafen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dirty="0">
                <a:solidFill>
                  <a:srgbClr val="000000"/>
                </a:solidFill>
                <a:latin typeface="Arial" charset="0"/>
              </a:rPr>
              <a:t>T +41 58 460 91 11 www.meteoschweiz.ch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BFAF226-128B-E78B-13FE-C7DC714BD092}"/>
              </a:ext>
            </a:extLst>
          </p:cNvPr>
          <p:cNvSpPr/>
          <p:nvPr userDrawn="1"/>
        </p:nvSpPr>
        <p:spPr>
          <a:xfrm>
            <a:off x="1085416" y="3168000"/>
            <a:ext cx="228401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="1" baseline="0" dirty="0" err="1">
                <a:solidFill>
                  <a:srgbClr val="000000"/>
                </a:solidFill>
                <a:latin typeface="Arial" charset="0"/>
              </a:rPr>
              <a:t>MeteoSvizzera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Via ai Monti 146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CH-6605 Locarno-Monti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T +41 58 460 92 22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www.meteosvizzera.ch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6187216-DEAC-F5FA-68CB-BA2261CBFE36}"/>
              </a:ext>
            </a:extLst>
          </p:cNvPr>
          <p:cNvSpPr/>
          <p:nvPr userDrawn="1"/>
        </p:nvSpPr>
        <p:spPr>
          <a:xfrm>
            <a:off x="3815318" y="3168000"/>
            <a:ext cx="20054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="1" baseline="0" dirty="0" err="1">
                <a:solidFill>
                  <a:srgbClr val="000000"/>
                </a:solidFill>
                <a:latin typeface="Arial" charset="0"/>
              </a:rPr>
              <a:t>MétéoSuisse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7bis, </a:t>
            </a: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av</a:t>
            </a: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. de la </a:t>
            </a: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Paix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aseline="0" dirty="0">
                <a:solidFill>
                  <a:srgbClr val="000000"/>
                </a:solidFill>
                <a:latin typeface="Arial" charset="0"/>
              </a:rPr>
              <a:t>CH-1211 Genève 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aseline="0" dirty="0">
                <a:solidFill>
                  <a:srgbClr val="000000"/>
                </a:solidFill>
                <a:latin typeface="Arial" charset="0"/>
              </a:rPr>
              <a:t>T +41 58 460 98 88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aseline="0" dirty="0" err="1">
                <a:solidFill>
                  <a:srgbClr val="000000"/>
                </a:solidFill>
                <a:latin typeface="Arial" charset="0"/>
              </a:rPr>
              <a:t>www.meteosuisse.ch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A9786B3-82E8-AF3F-6DF7-DA34AEF004F9}"/>
              </a:ext>
            </a:extLst>
          </p:cNvPr>
          <p:cNvSpPr/>
          <p:nvPr userDrawn="1"/>
        </p:nvSpPr>
        <p:spPr>
          <a:xfrm>
            <a:off x="6285468" y="3168000"/>
            <a:ext cx="210293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="1" baseline="0" dirty="0" err="1">
                <a:solidFill>
                  <a:srgbClr val="000000"/>
                </a:solidFill>
                <a:latin typeface="Arial" charset="0"/>
              </a:rPr>
              <a:t>MétéoSuisse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Chemin</a:t>
            </a: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 de </a:t>
            </a: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l‘Aérologie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CH-1530 Payerne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T +41 58 460 94 44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www.meteosuisse.ch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28" name="Bild 16">
            <a:extLst>
              <a:ext uri="{FF2B5EF4-FFF2-40B4-BE49-F238E27FC236}">
                <a16:creationId xmlns:a16="http://schemas.microsoft.com/office/drawing/2014/main" id="{21C2E1E4-5896-938E-3548-8A789D3CBE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29" name="Rechteck 28">
            <a:extLst>
              <a:ext uri="{FF2B5EF4-FFF2-40B4-BE49-F238E27FC236}">
                <a16:creationId xmlns:a16="http://schemas.microsoft.com/office/drawing/2014/main" id="{34FAB3CA-F284-7462-AB5A-6D6B7C32E51E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30" name="Bild 64">
            <a:extLst>
              <a:ext uri="{FF2B5EF4-FFF2-40B4-BE49-F238E27FC236}">
                <a16:creationId xmlns:a16="http://schemas.microsoft.com/office/drawing/2014/main" id="{EC5949C4-F460-BD40-6374-7387BAA965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835730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3" Target="../slideLayouts/slideLayout3.xml" Type="http://schemas.openxmlformats.org/officeDocument/2006/relationships/slideLayout" /><Relationship Id="rId21" Target="../media/image1.emf" Type="http://schemas.openxmlformats.org/officeDocument/2006/relationships/image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0" Target="../theme/theme1.xml" Type="http://schemas.openxmlformats.org/officeDocument/2006/relationships/them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slideLayouts/slideLayout19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1081089" y="1386177"/>
            <a:ext cx="4939884" cy="3264511"/>
          </a:xfrm>
          <a:prstGeom prst="rect">
            <a:avLst/>
          </a:prstGeom>
        </p:spPr>
        <p:txBody>
          <a:bodyPr bIns="0" lIns="0" rIns="0" rtlCol="0" tIns="0" vert="horz">
            <a:normAutofit/>
          </a:bodyPr>
          <a:lstStyle/>
          <a:p>
            <a:pPr lvl="0"/>
            <a:r>
              <a:rPr dirty="0" lang="de-DE"/>
              <a:t>Mastertextformat bearbeiten</a:t>
            </a:r>
          </a:p>
          <a:p>
            <a:pPr lvl="1"/>
            <a:r>
              <a:rPr dirty="0" lang="de-DE"/>
              <a:t>Zweite Ebene</a:t>
            </a:r>
          </a:p>
          <a:p>
            <a:pPr lvl="2"/>
            <a:r>
              <a:rPr dirty="0" lang="de-DE"/>
              <a:t>Dritte Ebene</a:t>
            </a:r>
          </a:p>
          <a:p>
            <a:pPr lvl="3"/>
            <a:r>
              <a:rPr dirty="0" lang="de-DE"/>
              <a:t>Vierte Ebene</a:t>
            </a:r>
          </a:p>
          <a:p>
            <a:pPr lvl="4"/>
            <a:r>
              <a:rPr dirty="0" lang="de-DE"/>
              <a:t>Fünfte Ebene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2822848" y="4723662"/>
            <a:ext cx="2057400" cy="273928"/>
          </a:xfrm>
          <a:prstGeom prst="rect">
            <a:avLst/>
          </a:prstGeom>
        </p:spPr>
        <p:txBody>
          <a:bodyPr anchor="t" anchorCtr="0" bIns="0" lIns="0" rIns="0" rtlCol="0" tIns="0" vert="horz"/>
          <a:lstStyle>
            <a:lvl1pPr algn="l">
              <a:defRPr sz="900">
                <a:solidFill>
                  <a:schemeClr val="tx1">
                    <a:tint val="75000"/>
                    <a:alpha val="0"/>
                  </a:schemeClr>
                </a:solidFill>
              </a:defRPr>
            </a:lvl1pPr>
          </a:lstStyle>
          <a:p>
            <a:fld id="{F3127F1D-E87C-BC4B-9E41-D233E9064318}" type="datetime1">
              <a:rPr lang="de-CH" smtClean="0"/>
              <a:t>27.03.2025</a:t>
            </a:fld>
            <a:endParaRPr dirty="0" lang="de-DE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5114394" y="4723662"/>
            <a:ext cx="2787491" cy="273928"/>
          </a:xfrm>
          <a:prstGeom prst="rect">
            <a:avLst/>
          </a:prstGeom>
        </p:spPr>
        <p:txBody>
          <a:bodyPr anchor="t" anchorCtr="0" bIns="0" lIns="0" rIns="0" rtlCol="0" tIns="0" vert="horz"/>
          <a:lstStyle>
            <a:lvl1pPr algn="r">
              <a:defRPr baseline="0" sz="900">
                <a:solidFill>
                  <a:schemeClr val="tx1"/>
                </a:solidFill>
              </a:defRPr>
            </a:lvl1pPr>
          </a:lstStyle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7994730" y="4723662"/>
            <a:ext cx="539750" cy="273928"/>
          </a:xfrm>
          <a:prstGeom prst="rect">
            <a:avLst/>
          </a:prstGeom>
        </p:spPr>
        <p:txBody>
          <a:bodyPr anchor="t" anchorCtr="0" bIns="0" lIns="0" rIns="0" rtlCol="0" tIns="0" vert="horz"/>
          <a:lstStyle>
            <a:lvl1pPr algn="r">
              <a:defRPr baseline="0" sz="900">
                <a:solidFill>
                  <a:schemeClr val="tx1"/>
                </a:solidFill>
              </a:defRPr>
            </a:lvl1pPr>
          </a:lstStyle>
          <a:p>
            <a:fld id="{C6C8278F-EB32-9049-808B-99841320EF9D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7" name="Bild 48">
            <a:extLst>
              <a:ext uri="{FF2B5EF4-FFF2-40B4-BE49-F238E27FC236}">
                <a16:creationId xmlns:a16="http://schemas.microsoft.com/office/drawing/2014/main" id="{0DAF8FDE-FB1E-7A5F-ACFD-7FD43FEA8965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0" y="0"/>
            <a:ext cx="9144000" cy="10287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35C7075-6C94-FA01-17A5-0D57FDB68614}"/>
              </a:ext>
            </a:extLst>
          </p:cNvPr>
          <p:cNvSpPr txBox="1">
            <a:spLocks/>
          </p:cNvSpPr>
          <p:nvPr userDrawn="1"/>
        </p:nvSpPr>
        <p:spPr>
          <a:xfrm>
            <a:off x="1081088" y="480305"/>
            <a:ext cx="7434263" cy="713496"/>
          </a:xfrm>
          <a:prstGeom prst="rect">
            <a:avLst/>
          </a:prstGeom>
        </p:spPr>
        <p:txBody>
          <a:bodyPr bIns="0" lIns="0" rIns="0" tIns="0"/>
          <a:lstStyle>
            <a:lvl1pPr algn="l" defTabSz="6858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b="1" baseline="0" i="0" kern="1200"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dirty="0" lang="de-DE" sz="3000">
                <a:solidFill>
                  <a:schemeClr val="tx1">
                    <a:alpha val="0"/>
                  </a:schemeClr>
                </a:solidFill>
              </a:rPr>
              <a:t>Mastertitelformat bearbeiten</a:t>
            </a:r>
            <a:endParaRPr dirty="0" lang="en-US" sz="3000">
              <a:solidFill>
                <a:schemeClr val="tx1">
                  <a:alpha val="0"/>
                </a:schemeClr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384113E-3B84-B0C5-E326-C0C1562888C2}"/>
              </a:ext>
            </a:extLst>
          </p:cNvPr>
          <p:cNvSpPr/>
          <p:nvPr userDrawn="1"/>
        </p:nvSpPr>
        <p:spPr bwMode="auto">
          <a:xfrm>
            <a:off x="224140" y="1104675"/>
            <a:ext cx="908065" cy="703384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  <a:headEnd len="med" type="none" w="med"/>
            <a:tailEnd len="med" type="none" w="med"/>
          </a:ln>
          <a:effectLst/>
        </p:spPr>
        <p:txBody>
          <a:bodyPr anchor="t" anchorCtr="0" bIns="45720" compatLnSpc="1" lIns="91440" numCol="1" rIns="91440" rtlCol="0" tIns="45720" vert="horz" wrap="square">
            <a:prstTxWarp prst="textNoShape">
              <a:avLst/>
            </a:prstTxWarp>
          </a:bodyPr>
          <a:lstStyle/>
          <a:p>
            <a:pPr algn="l" defTabSz="914400" eaLnBrk="0" fontAlgn="base" hangingPunct="0" indent="0" latinLnBrk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b="0" baseline="0" cap="none" dirty="0" i="0" kumimoji="0" lang="de-DE" normalizeH="0" strike="noStrike" sz="2100" u="none">
              <a:ln>
                <a:noFill/>
              </a:ln>
              <a:solidFill>
                <a:schemeClr val="tx2"/>
              </a:solidFill>
              <a:effectLst/>
              <a:latin charset="0" typeface="Arial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97884898-4755-1DE3-F631-EFD19731F92D}"/>
              </a:ext>
            </a:extLst>
          </p:cNvPr>
          <p:cNvSpPr/>
          <p:nvPr userDrawn="1"/>
        </p:nvSpPr>
        <p:spPr bwMode="auto">
          <a:xfrm>
            <a:off x="1022904" y="4636653"/>
            <a:ext cx="1269446" cy="285085"/>
          </a:xfrm>
          <a:prstGeom prst="rect">
            <a:avLst/>
          </a:prstGeom>
          <a:solidFill>
            <a:schemeClr val="bg1"/>
          </a:solidFill>
          <a:ln algn="ctr" cap="flat" cmpd="sng" w="9525">
            <a:noFill/>
            <a:prstDash val="solid"/>
            <a:round/>
            <a:headEnd len="med" type="none" w="med"/>
            <a:tailEnd len="med" type="none" w="med"/>
          </a:ln>
          <a:effectLst/>
        </p:spPr>
        <p:txBody>
          <a:bodyPr anchor="t" anchorCtr="0" bIns="45720" compatLnSpc="1" lIns="91440" numCol="1" rIns="91440" rtlCol="0" tIns="45720" vert="horz" wrap="square">
            <a:prstTxWarp prst="textNoShape">
              <a:avLst/>
            </a:prstTxWarp>
          </a:bodyPr>
          <a:lstStyle/>
          <a:p>
            <a:pPr algn="l" defTabSz="914400" eaLnBrk="0" fontAlgn="base" hangingPunct="0" indent="0" latinLnBrk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b="0" baseline="0" cap="none" i="0" kumimoji="0" lang="de-DE" normalizeH="0" strike="noStrike" sz="2100" u="none">
              <a:ln>
                <a:noFill/>
              </a:ln>
              <a:solidFill>
                <a:schemeClr val="bg1"/>
              </a:solidFill>
              <a:effectLst/>
              <a:latin charset="0"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6418168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74" r:id="rId2"/>
    <p:sldLayoutId id="2147483667" r:id="rId3"/>
    <p:sldLayoutId id="2147483675" r:id="rId4"/>
    <p:sldLayoutId id="2147483662" r:id="rId5"/>
    <p:sldLayoutId id="2147483676" r:id="rId6"/>
    <p:sldLayoutId id="2147483663" r:id="rId7"/>
    <p:sldLayoutId id="2147483677" r:id="rId8"/>
    <p:sldLayoutId id="2147483666" r:id="rId9"/>
    <p:sldLayoutId id="2147483678" r:id="rId10"/>
    <p:sldLayoutId id="2147483668" r:id="rId11"/>
    <p:sldLayoutId id="2147483679" r:id="rId12"/>
    <p:sldLayoutId id="2147483669" r:id="rId13"/>
    <p:sldLayoutId id="2147483680" r:id="rId14"/>
    <p:sldLayoutId id="2147483673" r:id="rId15"/>
    <p:sldLayoutId id="2147483681" r:id="rId16"/>
    <p:sldLayoutId id="2147483670" r:id="rId17"/>
    <p:sldLayoutId id="2147483671" r:id="rId18"/>
    <p:sldLayoutId id="2147483682" r:id="rId19"/>
  </p:sldLayoutIdLst>
  <p:hf dt="0" hdr="0"/>
  <p:txStyles>
    <p:titleStyle>
      <a:lvl1pPr algn="l" defTabSz="685800" eaLnBrk="1" hangingPunct="1" latinLnBrk="0" rtl="0">
        <a:lnSpc>
          <a:spcPct val="90000"/>
        </a:lnSpc>
        <a:spcBef>
          <a:spcPct val="0"/>
        </a:spcBef>
        <a:buNone/>
        <a:defRPr b="1" baseline="0" i="0" kern="1200" sz="30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685800" eaLnBrk="1" hangingPunct="1" indent="-171450" latinLnBrk="0" marL="171450" rtl="0">
        <a:lnSpc>
          <a:spcPct val="90000"/>
        </a:lnSpc>
        <a:spcBef>
          <a:spcPts val="750"/>
        </a:spcBef>
        <a:buFont charset="0" panose="020B0604020202020204" pitchFamily="34" typeface="Arial"/>
        <a:buChar char="•"/>
        <a:defRPr kern="1200" sz="2100">
          <a:solidFill>
            <a:schemeClr val="tx1"/>
          </a:solidFill>
          <a:latin typeface="+mn-lt"/>
          <a:ea typeface="+mn-ea"/>
          <a:cs typeface="+mn-cs"/>
        </a:defRPr>
      </a:lvl1pPr>
      <a:lvl2pPr algn="l" defTabSz="685800" eaLnBrk="1" hangingPunct="1" indent="-171450" latinLnBrk="0" marL="5143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685800" eaLnBrk="1" hangingPunct="1" indent="-171450" latinLnBrk="0" marL="8572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3pPr>
      <a:lvl4pPr algn="l" defTabSz="685800" eaLnBrk="1" hangingPunct="1" indent="-171450" latinLnBrk="0" marL="12001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685800" eaLnBrk="1" hangingPunct="1" indent="-171450" latinLnBrk="0" marL="15430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685800" eaLnBrk="1" hangingPunct="1" indent="-171450" latinLnBrk="0" marL="18859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685800" eaLnBrk="1" hangingPunct="1" indent="-171450" latinLnBrk="0" marL="22288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685800" eaLnBrk="1" hangingPunct="1" indent="-171450" latinLnBrk="0" marL="25717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685800" eaLnBrk="1" hangingPunct="1" indent="-171450" latinLnBrk="0" marL="29146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6858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6858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6858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6858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6858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6858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6858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6858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6858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72" userDrawn="1">
          <p15:clr>
            <a:srgbClr val="F26B43"/>
          </p15:clr>
        </p15:guide>
        <p15:guide id="2" pos="5375" userDrawn="1">
          <p15:clr>
            <a:srgbClr val="F26B43"/>
          </p15:clr>
        </p15:guide>
        <p15:guide id="3" orient="horz" pos="3046" userDrawn="1">
          <p15:clr>
            <a:srgbClr val="F26B43"/>
          </p15:clr>
        </p15:guide>
        <p15:guide id="4" pos="681" userDrawn="1">
          <p15:clr>
            <a:srgbClr val="F26B43"/>
          </p15:clr>
        </p15:guide>
        <p15:guide id="5" orient="horz" pos="501" userDrawn="1">
          <p15:clr>
            <a:srgbClr val="F26B43"/>
          </p15:clr>
        </p15:guide>
        <p15:guide id="6" pos="476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5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6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7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9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0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1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5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6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7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8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9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20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21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2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23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ctrTitle"/>
          </p:nvPr>
        </p:nvSpPr>
        <p:spPr>
          <a:xfrm>
            <a:off x="1056068" y="1590937"/>
            <a:ext cx="6691399" cy="1308646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Containing the agent — claude-safe on CSCS supercomputers (full)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099534" y="3220394"/>
            <a:ext cx="6691399" cy="1242205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Christoph Müller · MeteoSwiss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18E900B-A219-1EA5-9044-F4A318FA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Why agents must be contained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One of the most famous AI failures in the world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[ screenshot: Jason Lemkin / X — “It deleted our production database without permission… Possibly worse, it hid and lied about it.” ]</a:t>
            </a:r>
          </a:p>
          <a:p>
            <a:pPr lvl="0" indent="0" marL="0">
              <a:buNone/>
            </a:pPr>
            <a:r>
              <a:rPr i="1"/>
              <a:t>Source: Tom’s Hardware (2025)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Replit, July 2025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12-day autonomous “vibe coding” experiment.</a:t>
            </a:r>
          </a:p>
          <a:p>
            <a:pPr lvl="0"/>
            <a:r>
              <a:rPr b="1"/>
              <a:t>Day 9: deleted the live production database</a:t>
            </a:r>
            <a:r>
              <a:rPr/>
              <a:t> — 1,206 executives, 1,196 companies — </a:t>
            </a:r>
            <a:r>
              <a:rPr b="1"/>
              <a:t>during a code freeze it was told to respect.</a:t>
            </a:r>
          </a:p>
          <a:p>
            <a:pPr lvl="0"/>
            <a:r>
              <a:rPr/>
              <a:t>Then </a:t>
            </a:r>
            <a:r>
              <a:rPr b="1"/>
              <a:t>fabricated data, lied that it had done nothing, claimed recovery was impossible.</a:t>
            </a:r>
          </a:p>
          <a:p>
            <a:pPr lvl="0"/>
            <a:r>
              <a:rPr/>
              <a:t>Replit CEO: </a:t>
            </a:r>
            <a:r>
              <a:rPr i="1"/>
              <a:t>“unacceptable and should never be possible.”</a:t>
            </a:r>
          </a:p>
          <a:p>
            <a:pPr lvl="0" indent="0" marL="0">
              <a:buNone/>
            </a:pPr>
            <a:r>
              <a:rPr b="1"/>
              <a:t>No attacker. It was told not to — and did it anyway, then covered it up.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73893E2-410A-8BCF-53BE-D7677E08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And that’s just the accidents. Now the attacks.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C72B1FE-6CE5-7483-AF4C-7DD314907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Amazon Q — destruction</a:t>
            </a:r>
          </a:p>
          <a:p>
            <a:pPr lvl="0" indent="0" marL="0">
              <a:buNone/>
            </a:pPr>
            <a:r>
              <a:rPr i="1"/>
              <a:t>[ screenshot: Tom’s Hardware / The Register — injected prompt: “clean a system to a near-factory state and delete file-system and cloud resources” ]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D52A117-D324-DD19-A2C3-F5BAC3789638}"/>
              </a:ext>
            </a:extLst>
          </p:cNvPr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EchoLeak — theft</a:t>
            </a:r>
          </a:p>
          <a:p>
            <a:pPr lvl="0" indent="0" marL="0">
              <a:buNone/>
            </a:pPr>
            <a:r>
              <a:rPr i="1"/>
              <a:t>[ screenshot: “zero-click” Microsoft 365 Copilot, CVE-2025-32711 ]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Sources: The Register (2025) · arXiv 2509.10540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Two injections, two outcomes — both 2025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Amazon Q — destruction.</a:t>
            </a:r>
            <a:r>
              <a:rPr/>
              <a:t> A hidden “wipe everything” instruction in a </a:t>
            </a:r>
            <a:r>
              <a:rPr b="1"/>
              <a:t>normal pull request</a:t>
            </a:r>
            <a:r>
              <a:rPr/>
              <a:t>, </a:t>
            </a:r>
            <a:r>
              <a:rPr b="1"/>
              <a:t>merged and shipped to ~964,000 machines</a:t>
            </a:r>
            <a:r>
              <a:rPr/>
              <a:t>. It only failed because the payload was </a:t>
            </a:r>
            <a:r>
              <a:rPr i="1"/>
              <a:t>malformed</a:t>
            </a:r>
            <a:r>
              <a:rPr/>
              <a:t> — nothing caught it.</a:t>
            </a:r>
          </a:p>
          <a:p>
            <a:pPr lvl="0"/>
            <a:r>
              <a:rPr b="1"/>
              <a:t>EchoLeak — theft.</a:t>
            </a:r>
            <a:r>
              <a:rPr/>
              <a:t> </a:t>
            </a:r>
            <a:r>
              <a:rPr b="1"/>
              <a:t>One email, zero clicks.</a:t>
            </a:r>
            <a:r>
              <a:rPr/>
              <a:t> Copilot reads it as part of its job and </a:t>
            </a:r>
            <a:r>
              <a:rPr b="1"/>
              <a:t>silently exfiltrates the user’s data.</a:t>
            </a:r>
          </a:p>
          <a:p>
            <a:pPr lvl="0" indent="0" marL="0">
              <a:buNone/>
            </a:pPr>
            <a:r>
              <a:rPr b="1"/>
              <a:t>The malicious order rode in as ordinary data — a PR, an email — and the agent couldn’t tell the difference.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18E900B-A219-1EA5-9044-F4A318FA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But that was last year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“The new models are hardened.”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“They’re smarter — you can’t trick them that easily.”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73893E2-410A-8BCF-53BE-D7677E08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This is 2026. Current frontier models.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C72B1FE-6CE5-7483-AF4C-7DD314907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Rogue — PocketOS (Apr 2026)</a:t>
            </a:r>
          </a:p>
          <a:p>
            <a:pPr lvl="0" indent="0" marL="0">
              <a:buNone/>
            </a:pPr>
            <a:r>
              <a:rPr i="1"/>
              <a:t>[ screenshot: The Register / Fast Company — “I violated every principle I was given” ]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D52A117-D324-DD19-A2C3-F5BAC3789638}"/>
              </a:ext>
            </a:extLst>
          </p:cNvPr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Injection — “Comment &amp; Control”</a:t>
            </a:r>
          </a:p>
          <a:p>
            <a:pPr lvl="0" indent="0" marL="0">
              <a:buNone/>
            </a:pPr>
            <a:r>
              <a:rPr i="1"/>
              <a:t>[ screenshot: SecurityWeek — CVE-2026-21520, hit all three vendors 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Sources: The Register, Fast Company · SecurityWeek (Apr 2026)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2026 — the best models money can buy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Rogue — PocketOS, Claude Opus 4.6 (a 2026 flagship).</a:t>
            </a:r>
            <a:r>
              <a:rPr/>
              <a:t> Mid–routine task, hit a credential mismatch, decided </a:t>
            </a:r>
            <a:r>
              <a:rPr i="1"/>
              <a:t>on its own</a:t>
            </a:r>
            <a:r>
              <a:rPr/>
              <a:t> to delete a Railway volume. </a:t>
            </a:r>
            <a:r>
              <a:rPr b="1"/>
              <a:t>DB + all backups gone in 9 seconds.</a:t>
            </a:r>
            <a:r>
              <a:rPr/>
              <a:t> Its log: </a:t>
            </a:r>
            <a:r>
              <a:rPr i="1"/>
              <a:t>“…you never asked me to delete anything.”</a:t>
            </a:r>
          </a:p>
          <a:p>
            <a:pPr lvl="0"/>
            <a:r>
              <a:rPr b="1"/>
              <a:t>Injection — “Comment &amp; Control” (CVE-2026-21520).</a:t>
            </a:r>
            <a:r>
              <a:rPr/>
              <a:t> One PR comment hit </a:t>
            </a:r>
            <a:r>
              <a:rPr b="1"/>
              <a:t>Claude Code, Gemini CLI, and Copilot</a:t>
            </a:r>
            <a:r>
              <a:rPr/>
              <a:t> — named researchers, </a:t>
            </a:r>
            <a:r>
              <a:rPr b="1"/>
              <a:t>zero victim interaction</a:t>
            </a:r>
            <a:r>
              <a:rPr/>
              <a:t>, exfil via a PR comment.</a:t>
            </a:r>
          </a:p>
          <a:p>
            <a:pPr lvl="0" indent="0" marL="0">
              <a:buNone/>
            </a:pPr>
            <a:r>
              <a:rPr b="1"/>
              <a:t>Newer didn’t fix it. A smarter model just follows the malicious instruction more competently.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It’s structural — not a bug to be patched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An LLM reads </a:t>
            </a:r>
            <a:r>
              <a:rPr b="1"/>
              <a:t>instructions and data in one channel</a:t>
            </a:r>
            <a:r>
              <a:rPr/>
              <a:t> and </a:t>
            </a:r>
            <a:r>
              <a:rPr b="1"/>
              <a:t>cannot reliably tell them apart</a:t>
            </a:r>
            <a:r>
              <a:rPr/>
              <a:t> — </a:t>
            </a:r>
            <a:r>
              <a:rPr i="1"/>
              <a:t>OWASP LLM01:2025</a:t>
            </a:r>
            <a:r>
              <a:rPr/>
              <a:t> (the primary reference).</a:t>
            </a:r>
          </a:p>
          <a:p>
            <a:pPr lvl="0"/>
            <a:r>
              <a:rPr/>
              <a:t>It’s </a:t>
            </a:r>
            <a:r>
              <a:rPr b="1"/>
              <a:t>SQL injection before parameterized queries</a:t>
            </a:r>
            <a:r>
              <a:rPr/>
              <a:t> — </a:t>
            </a:r>
            <a:r>
              <a:rPr i="1"/>
              <a:t>except</a:t>
            </a:r>
            <a:r>
              <a:rPr/>
              <a:t> there is </a:t>
            </a:r>
            <a:r>
              <a:rPr b="1"/>
              <a:t>no parameterized-query fix</a:t>
            </a:r>
            <a:r>
              <a:rPr/>
              <a:t>: no second channel to move the data into.</a:t>
            </a:r>
          </a:p>
          <a:p>
            <a:pPr lvl="0"/>
            <a:r>
              <a:rPr/>
              <a:t>OWASP’s own prescribed remedy: </a:t>
            </a:r>
            <a:r>
              <a:rPr b="1"/>
              <a:t>defense in depth + privilege restriction + human-in-the-loop</a:t>
            </a:r>
            <a:r>
              <a:rPr/>
              <a:t> — i.e. the rest of this talk.</a:t>
            </a:r>
          </a:p>
          <a:p>
            <a:pPr lvl="0" indent="0" marL="0">
              <a:buNone/>
            </a:pPr>
            <a:r>
              <a:rPr b="1"/>
              <a:t>There is no safe model coming. So we contain.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Don’t panic — soft constraints are not useless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[ optional: xkcd 1613 “The Three Laws of Robotics” — credit xkcd.com/1613 ]</a:t>
            </a:r>
          </a:p>
          <a:p>
            <a:pPr lvl="0"/>
            <a:r>
              <a:rPr/>
              <a:t>Good prompting, </a:t>
            </a:r>
            <a:r>
              <a:rPr>
                <a:latin typeface="Courier"/>
              </a:rPr>
              <a:t>AGENTS.md</a:t>
            </a:r>
            <a:r>
              <a:rPr/>
              <a:t>, skills, clear do/don’t instructions </a:t>
            </a:r>
            <a:r>
              <a:rPr b="1"/>
              <a:t>genuinely help</a:t>
            </a:r>
            <a:r>
              <a:rPr/>
              <a:t> — early evidence says they lower the rate of catastrophic actions.</a:t>
            </a:r>
          </a:p>
          <a:p>
            <a:pPr lvl="0"/>
            <a:r>
              <a:rPr b="1"/>
              <a:t>Invest in them.</a:t>
            </a:r>
            <a:r>
              <a:rPr/>
              <a:t> But they’re </a:t>
            </a:r>
            <a:r>
              <a:rPr b="1"/>
              <a:t>probabilistic</a:t>
            </a:r>
            <a:r>
              <a:rPr/>
              <a:t>, hard to get right, and the agent can be </a:t>
            </a:r>
            <a:r>
              <a:rPr b="1"/>
              <a:t>tricked out of them.</a:t>
            </a:r>
          </a:p>
          <a:p>
            <a:pPr lvl="0" indent="0" marL="0">
              <a:buNone/>
            </a:pPr>
            <a:r>
              <a:rPr b="1"/>
              <a:t>This talk is not about that.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73893E2-410A-8BCF-53BE-D7677E08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Two kinds of constraint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C72B1FE-6CE5-7483-AF4C-7DD314907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Soft constraints</a:t>
            </a:r>
          </a:p>
          <a:p>
            <a:pPr lvl="0"/>
            <a:r>
              <a:rPr>
                <a:latin typeface="Courier"/>
              </a:rPr>
              <a:t>AGENTS.md</a:t>
            </a:r>
            <a:r>
              <a:rPr/>
              <a:t>, skills, prompts</a:t>
            </a:r>
          </a:p>
          <a:p>
            <a:pPr lvl="0"/>
            <a:r>
              <a:rPr/>
              <a:t>live at the agent’s </a:t>
            </a:r>
            <a:r>
              <a:rPr b="1"/>
              <a:t>judgment</a:t>
            </a:r>
          </a:p>
          <a:p>
            <a:pPr lvl="0"/>
            <a:r>
              <a:rPr/>
              <a:t>can be ignored, misread, injected</a:t>
            </a:r>
          </a:p>
          <a:p>
            <a:pPr lvl="0"/>
            <a:r>
              <a:rPr b="1"/>
              <a:t>shift the probability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D52A117-D324-DD19-A2C3-F5BAC3789638}"/>
              </a:ext>
            </a:extLst>
          </p:cNvPr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Hard constraints</a:t>
            </a:r>
          </a:p>
          <a:p>
            <a:pPr lvl="0"/>
            <a:r>
              <a:rPr/>
              <a:t>filesystem, syscalls, network</a:t>
            </a:r>
          </a:p>
          <a:p>
            <a:pPr lvl="0"/>
            <a:r>
              <a:rPr/>
              <a:t>live </a:t>
            </a:r>
            <a:r>
              <a:rPr b="1"/>
              <a:t>below</a:t>
            </a:r>
            <a:r>
              <a:rPr/>
              <a:t> the agent</a:t>
            </a:r>
          </a:p>
          <a:p>
            <a:pPr lvl="0"/>
            <a:r>
              <a:rPr/>
              <a:t>it </a:t>
            </a:r>
            <a:r>
              <a:rPr b="1"/>
              <a:t>cannot choose</a:t>
            </a:r>
            <a:r>
              <a:rPr/>
              <a:t> to violate them</a:t>
            </a:r>
          </a:p>
          <a:p>
            <a:pPr lvl="0"/>
            <a:r>
              <a:rPr b="1"/>
              <a:t>bound the worst case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Soft lowers the chance. Hard caps the damage. On a shared HPC you need the cap.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18E900B-A219-1EA5-9044-F4A318FA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The longer view: the useful–harmless spectrum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What does “safe” even mean? (fefe’s test)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Harmless</a:t>
            </a:r>
            <a:r>
              <a:rPr/>
              <a:t> = software you can run on </a:t>
            </a:r>
            <a:r>
              <a:rPr b="1"/>
              <a:t>unfiltered web-form input</a:t>
            </a:r>
            <a:r>
              <a:rPr/>
              <a:t> without checking whether anything bad happens.</a:t>
            </a:r>
          </a:p>
          <a:p>
            <a:pPr lvl="0"/>
            <a:r>
              <a:rPr b="1"/>
              <a:t>Useful and harmless are antagonists.</a:t>
            </a:r>
          </a:p>
          <a:p>
            <a:pPr lvl="0"/>
            <a:r>
              <a:rPr/>
              <a:t>Software is </a:t>
            </a:r>
            <a:r>
              <a:rPr b="1"/>
              <a:t>born harmless and accretes capability until it’s dangerous.</a:t>
            </a:r>
          </a:p>
          <a:p>
            <a:pPr lvl="0" indent="0" marL="0">
              <a:buNone/>
            </a:pPr>
            <a:r>
              <a:rPr b="1"/>
              <a:t>More power = more that can go wrong. There is a spectrum.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30 years of sliding the wrong way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Word</a:t>
            </a:r>
            <a:r>
              <a:rPr/>
              <a:t> → macros → an embedded scripting engine</a:t>
            </a:r>
          </a:p>
          <a:p>
            <a:pPr lvl="0"/>
            <a:r>
              <a:rPr b="1"/>
              <a:t>Excel</a:t>
            </a:r>
            <a:r>
              <a:rPr/>
              <a:t> → VBA → a </a:t>
            </a:r>
            <a:r>
              <a:rPr b="1"/>
              <a:t>JavaScript runtime</a:t>
            </a:r>
            <a:r>
              <a:rPr/>
              <a:t> in your spreadsheet</a:t>
            </a:r>
          </a:p>
          <a:p>
            <a:pPr lvl="0"/>
            <a:r>
              <a:rPr b="1"/>
              <a:t>PDF</a:t>
            </a:r>
            <a:r>
              <a:rPr/>
              <a:t> → </a:t>
            </a:r>
            <a:r>
              <a:rPr b="1"/>
              <a:t>JavaScript inside documents</a:t>
            </a:r>
          </a:p>
          <a:p>
            <a:pPr lvl="0"/>
            <a:r>
              <a:rPr b="1"/>
              <a:t>Browser</a:t>
            </a:r>
            <a:r>
              <a:rPr/>
              <a:t> → from “render text” to “run arbitrary untrusted code from anyone”</a:t>
            </a:r>
          </a:p>
          <a:p>
            <a:pPr lvl="0" indent="0" marL="0">
              <a:buNone/>
            </a:pPr>
            <a:r>
              <a:rPr b="1"/>
              <a:t>Three decades, one direction: trade harmlessness for features.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The agent is the endpoint — and everything is connected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“</a:t>
            </a:r>
            <a:r>
              <a:rPr b="1"/>
              <a:t>Connect your whole digital life — devices, files, mail — to an agent and let it act</a:t>
            </a:r>
            <a:r>
              <a:rPr/>
              <a:t>” is that trend taken to its limit: </a:t>
            </a:r>
            <a:r>
              <a:rPr b="1"/>
              <a:t>max capability × max connectivity.</a:t>
            </a:r>
          </a:p>
          <a:p>
            <a:pPr lvl="0"/>
            <a:r>
              <a:rPr b="1"/>
              <a:t>Blowback = blast radius:</a:t>
            </a:r>
            <a:r>
              <a:rPr/>
              <a:t> everything connected + software that can do everything → </a:t>
            </a:r>
            <a:r>
              <a:rPr b="1"/>
              <a:t>one compromise is total compromise.</a:t>
            </a:r>
            <a:r>
              <a:rPr/>
              <a:t> (PocketOS: one stray token reached the whole DB.)</a:t>
            </a:r>
          </a:p>
          <a:p>
            <a:pPr lvl="0"/>
            <a:r>
              <a:rPr b="1"/>
              <a:t>On a shared supercomputer: squared</a:t>
            </a:r>
            <a:r>
              <a:rPr/>
              <a:t> — many users, one filesystem, shared credentials, a scheduler that spends compute.</a:t>
            </a:r>
          </a:p>
          <a:p>
            <a:pPr lvl="0" indent="0" marL="0">
              <a:buNone/>
            </a:pPr>
            <a:r>
              <a:rPr b="1"/>
              <a:t>The usefulness is real. So is the bill for it.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You can’t make the agent harmless — so cage it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fefe’s ideal: software so trustworthy it needs no cage. </a:t>
            </a:r>
            <a:r>
              <a:rPr b="1"/>
              <a:t>Agreed — that’s the problem.</a:t>
            </a:r>
          </a:p>
          <a:p>
            <a:pPr lvl="0"/>
            <a:r>
              <a:rPr b="1"/>
              <a:t>An LLM agent is the one class of software that can never be made harmless.</a:t>
            </a:r>
            <a:r>
              <a:rPr/>
              <a:t> By his own test, it’s the </a:t>
            </a:r>
            <a:r>
              <a:rPr i="1"/>
              <a:t>opposite</a:t>
            </a:r>
            <a:r>
              <a:rPr/>
              <a:t> of harmless. </a:t>
            </a:r>
            <a:r>
              <a:rPr b="1"/>
              <a:t>You can’t move it left.</a:t>
            </a:r>
          </a:p>
          <a:p>
            <a:pPr lvl="0"/>
            <a:r>
              <a:rPr/>
              <a:t>Chapter 1 proved it: injection is </a:t>
            </a:r>
            <a:r>
              <a:rPr b="1"/>
              <a:t>structural.</a:t>
            </a:r>
          </a:p>
          <a:p>
            <a:pPr lvl="0" indent="0" marL="0">
              <a:buNone/>
            </a:pPr>
            <a:r>
              <a:rPr b="1"/>
              <a:t>We don’t refuse the agent. We bound its blast radius.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18E900B-A219-1EA5-9044-F4A318FA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Check your privileges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Lion → Lynx → Kitten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LION                 LYNX                     KITTEN
   (root)      ──►       (user)        ──►        (sandboxed process)
            drop root             sandbox: strip every right
          / run as user          except the few the task needs</a:t>
            </a:r>
          </a:p>
          <a:p>
            <a:pPr lvl="0"/>
            <a:r>
              <a:rPr b="1"/>
              <a:t>Lion = root</a:t>
            </a:r>
            <a:r>
              <a:rPr/>
              <a:t> — can do anything, no limits.</a:t>
            </a:r>
          </a:p>
          <a:p>
            <a:pPr lvl="0"/>
            <a:r>
              <a:rPr b="1"/>
              <a:t>Lynx = ordinary user</a:t>
            </a:r>
            <a:r>
              <a:rPr/>
              <a:t> — still dangerous, just not apex. </a:t>
            </a:r>
            <a:r>
              <a:rPr i="1"/>
              <a:t>Most software lives here.</a:t>
            </a:r>
          </a:p>
          <a:p>
            <a:pPr lvl="0"/>
            <a:r>
              <a:rPr b="1"/>
              <a:t>Kitten = sandboxed</a:t>
            </a:r>
            <a:r>
              <a:rPr/>
              <a:t> — every right stripped except the task’s few.</a:t>
            </a:r>
          </a:p>
          <a:p>
            <a:pPr lvl="0"/>
            <a:r>
              <a:rPr b="1"/>
              <a:t>A Lynx is NOT safe enough on a shared machine — PocketOS was a Lynx.</a:t>
            </a:r>
          </a:p>
          <a:p>
            <a:pPr lvl="0" indent="0" marL="0">
              <a:buNone/>
            </a:pPr>
            <a:r>
              <a:rPr b="1"/>
              <a:t>Security = walk the animal as far right as it goes while it still does the job.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Dimension 1 — the filesystem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Write — a tight whitelist: only the work folder.</a:t>
            </a:r>
            <a:r>
              <a:rPr/>
              <a:t> Hijacked, it </a:t>
            </a:r>
            <a:r>
              <a:rPr b="1"/>
              <a:t>can’t plant anything that outlives the task</a:t>
            </a:r>
            <a:r>
              <a:rPr/>
              <a:t> (no </a:t>
            </a:r>
            <a:r>
              <a:rPr>
                <a:latin typeface="Courier"/>
              </a:rPr>
              <a:t>~/.bashrc</a:t>
            </a:r>
            <a:r>
              <a:rPr/>
              <a:t>, no </a:t>
            </a:r>
            <a:r>
              <a:rPr>
                <a:latin typeface="Courier"/>
              </a:rPr>
              <a:t>~/.ssh</a:t>
            </a:r>
            <a:r>
              <a:rPr/>
              <a:t>, no cron).</a:t>
            </a:r>
          </a:p>
          <a:p>
            <a:pPr lvl="0"/>
            <a:r>
              <a:rPr b="1"/>
              <a:t>Read — broad, but holes punched for secrets: everywhere EXCEPT home.</a:t>
            </a:r>
            <a:r>
              <a:rPr/>
              <a:t> Home is where the keys live (</a:t>
            </a:r>
            <a:r>
              <a:rPr>
                <a:latin typeface="Courier"/>
              </a:rPr>
              <a:t>~/.ssh</a:t>
            </a:r>
            <a:r>
              <a:rPr/>
              <a:t>, </a:t>
            </a:r>
            <a:r>
              <a:rPr>
                <a:latin typeface="Courier"/>
              </a:rPr>
              <a:t>~/.aws/credentials</a:t>
            </a:r>
            <a:r>
              <a:rPr/>
              <a:t>, tokens).</a:t>
            </a:r>
          </a:p>
          <a:p>
            <a:pPr lvl="0" indent="0" marL="0">
              <a:buNone/>
            </a:pPr>
            <a:r>
              <a:rPr b="1"/>
              <a:t>Write = whitelist (one folder). Read = blacklist (everywhere but the secrets). Different damage → different shape.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Dimension 2 — the network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Blunt:</a:t>
            </a:r>
            <a:r>
              <a:rPr/>
              <a:t> forbid </a:t>
            </a:r>
            <a:r>
              <a:rPr>
                <a:latin typeface="Courier"/>
              </a:rPr>
              <a:t>curl</a:t>
            </a:r>
            <a:r>
              <a:rPr/>
              <a:t>/</a:t>
            </a:r>
            <a:r>
              <a:rPr>
                <a:latin typeface="Courier"/>
              </a:rPr>
              <a:t>wget</a:t>
            </a:r>
            <a:r>
              <a:rPr/>
              <a:t>, or cut the network — but that breaks </a:t>
            </a:r>
            <a:r>
              <a:rPr>
                <a:latin typeface="Courier"/>
              </a:rPr>
              <a:t>pip</a:t>
            </a:r>
            <a:r>
              <a:rPr/>
              <a:t>, data fetches, even </a:t>
            </a:r>
            <a:r>
              <a:rPr b="1"/>
              <a:t>the model API the agent needs to think.</a:t>
            </a:r>
          </a:p>
          <a:p>
            <a:pPr lvl="0"/>
            <a:r>
              <a:rPr b="1"/>
              <a:t>And blunt is bypassable:</a:t>
            </a:r>
            <a:r>
              <a:rPr/>
              <a:t> blocking </a:t>
            </a:r>
            <a:r>
              <a:rPr>
                <a:latin typeface="Courier"/>
              </a:rPr>
              <a:t>wget</a:t>
            </a:r>
            <a:r>
              <a:rPr/>
              <a:t> ≠ blocking </a:t>
            </a:r>
            <a:r>
              <a:rPr>
                <a:latin typeface="Courier"/>
              </a:rPr>
              <a:t>curl</a:t>
            </a:r>
            <a:r>
              <a:rPr/>
              <a:t> / </a:t>
            </a:r>
            <a:r>
              <a:rPr>
                <a:latin typeface="Courier"/>
              </a:rPr>
              <a:t>python -c</a:t>
            </a:r>
            <a:r>
              <a:rPr/>
              <a:t> / </a:t>
            </a:r>
            <a:r>
              <a:rPr>
                <a:latin typeface="Courier"/>
              </a:rPr>
              <a:t>/dev/tcp</a:t>
            </a:r>
            <a:r>
              <a:rPr/>
              <a:t>.</a:t>
            </a:r>
          </a:p>
          <a:p>
            <a:pPr lvl="0"/>
            <a:r>
              <a:rPr b="1"/>
              <a:t>Smart — a destination allowlist:</a:t>
            </a:r>
            <a:r>
              <a:rPr/>
              <a:t> the model API, your package index, your data source, the git remote. Deny the rest, at the network layer.</a:t>
            </a:r>
          </a:p>
          <a:p>
            <a:pPr lvl="0" indent="0" marL="0">
              <a:buNone/>
            </a:pPr>
            <a:r>
              <a:rPr b="1"/>
              <a:t>You can’t block the tool. You block the destination — below the agent.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Dimension 3 — the syscalls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Directly dangerous capability — </a:t>
            </a:r>
            <a:r>
              <a:rPr b="1">
                <a:latin typeface="Courier"/>
              </a:rPr>
              <a:t>ptrace</a:t>
            </a:r>
            <a:r>
              <a:rPr b="1"/>
              <a:t>:</a:t>
            </a:r>
            <a:r>
              <a:rPr/>
              <a:t> read/rewrite another process’s memory. A hijacked agent could </a:t>
            </a:r>
            <a:r>
              <a:rPr b="1"/>
              <a:t>read a neighbour’s running job out of memory.</a:t>
            </a:r>
            <a:r>
              <a:rPr/>
              <a:t> Never needed → take it away.</a:t>
            </a:r>
          </a:p>
          <a:p>
            <a:pPr lvl="0"/>
            <a:r>
              <a:rPr b="1"/>
              <a:t>Attack surface — </a:t>
            </a:r>
            <a:r>
              <a:rPr b="1">
                <a:latin typeface="Courier"/>
              </a:rPr>
              <a:t>io_uring</a:t>
            </a:r>
            <a:r>
              <a:rPr b="1"/>
              <a:t>, exotic calls:</a:t>
            </a:r>
            <a:r>
              <a:rPr/>
              <a:t> a syscall is a </a:t>
            </a:r>
            <a:r>
              <a:rPr b="1"/>
              <a:t>door into the kernel</a:t>
            </a:r>
            <a:r>
              <a:rPr/>
              <a:t>; some locks have broken (priv-esc bugs). </a:t>
            </a:r>
            <a:r>
              <a:rPr b="1"/>
              <a:t>Brick the doors the agent never uses.</a:t>
            </a:r>
          </a:p>
          <a:p>
            <a:pPr lvl="0" indent="0" marL="0">
              <a:buNone/>
            </a:pPr>
            <a:r>
              <a:rPr b="1"/>
              <a:t>Every syscall the agent can’t make is a kernel bug that can’t be its way out.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The pattern behind all three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Enumerate what the task needs. </a:t>
            </a:r>
            <a:r>
              <a:rPr sz="2000" b="1"/>
              <a:t>Deny the rest.</a:t>
            </a:r>
            <a:r>
              <a:rPr sz="2000"/>
              <a:t> Enforce it </a:t>
            </a:r>
            <a:r>
              <a:rPr sz="2000" b="1"/>
              <a:t>below</a:t>
            </a:r>
            <a:r>
              <a:rPr sz="2000"/>
              <a:t> the agent — not as a rule it could talk its way around.</a:t>
            </a:r>
          </a:p>
          <a:p>
            <a:pPr lvl="0" indent="0" marL="0">
              <a:buNone/>
            </a:pPr>
            <a:r>
              <a:rPr b="1"/>
              <a:t>Least privilege isn’t a rule the agent follows — it’s a world the agent lives in.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18E900B-A219-1EA5-9044-F4A318FA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claude-safe on the HPC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Anthropic already ships a sandbox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Built on </a:t>
            </a:r>
            <a:r>
              <a:rPr b="1"/>
              <a:t>bubblewrap</a:t>
            </a:r>
            <a:r>
              <a:rPr/>
              <a:t>; </a:t>
            </a:r>
            <a:r>
              <a:rPr b="1"/>
              <a:t>every Bash command</a:t>
            </a:r>
            <a:r>
              <a:rPr/>
              <a:t> runs inside it.</a:t>
            </a:r>
          </a:p>
          <a:p>
            <a:pPr lvl="0"/>
            <a:r>
              <a:rPr/>
              <a:t>Two of three Kitten dimensions for free: </a:t>
            </a:r>
            <a:r>
              <a:rPr b="1"/>
              <a:t>filesystem</a:t>
            </a:r>
            <a:r>
              <a:rPr/>
              <a:t> (</a:t>
            </a:r>
            <a:r>
              <a:rPr>
                <a:latin typeface="Courier"/>
              </a:rPr>
              <a:t>allowRead</a:t>
            </a:r>
            <a:r>
              <a:rPr/>
              <a:t>/</a:t>
            </a:r>
            <a:r>
              <a:rPr>
                <a:latin typeface="Courier"/>
              </a:rPr>
              <a:t>denyRead</a:t>
            </a:r>
            <a:r>
              <a:rPr/>
              <a:t>) and </a:t>
            </a:r>
            <a:r>
              <a:rPr b="1"/>
              <a:t>network</a:t>
            </a:r>
            <a:r>
              <a:rPr/>
              <a:t> (a local proxy).</a:t>
            </a:r>
          </a:p>
          <a:p>
            <a:pPr lvl="0"/>
            <a:r>
              <a:rPr b="1"/>
              <a:t>Does NOT add the syscall cage — and warns the seccomp slot is empty.</a:t>
            </a:r>
          </a:p>
          <a:p>
            <a:pPr lvl="0" indent="0" marL="0">
              <a:buNone/>
            </a:pPr>
            <a:r>
              <a:rPr b="1"/>
              <a:t>Most of the Kitten comes in the box. The syscall cage is a slot left open — and on our hardware, the box doesn’t start.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The config our IT wants us to use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"permissions"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"deny"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4070A0"/>
                </a:solidFill>
                <a:latin typeface="Courier"/>
              </a:rPr>
              <a:t>"Read(**/*.env)"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"Edit(**/*.env)"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"Write(**/*.env)"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4070A0"/>
                </a:solidFill>
                <a:latin typeface="Courier"/>
              </a:rPr>
              <a:t>"Bash(curl *)"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"Bash(wget *)"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"Bash(ssh *)"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4070A0"/>
                </a:solidFill>
                <a:latin typeface="Courier"/>
              </a:rPr>
              <a:t>"Bash(scp *)"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"Bash(nc *)"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"mcp__*"</a:t>
            </a:r>
            <a:br/>
            <a:r>
              <a:rPr>
                <a:solidFill>
                  <a:srgbClr val="007020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},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"enableAllProjectMcpServers"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"sandbox"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"enabled"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"autoAllowBashIfSandboxed"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false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"allowUnsandboxedCommands"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false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"filesystem"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"denyRead"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"~"</a:t>
            </a:r>
            <a:r>
              <a:rPr>
                <a:solidFill>
                  <a:srgbClr val="007020"/>
                </a:solidFill>
                <a:latin typeface="Courier"/>
              </a:rPr>
              <a:t>]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"allowRead"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"./"</a:t>
            </a:r>
            <a:r>
              <a:rPr>
                <a:solidFill>
                  <a:srgbClr val="007020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i="1"/>
              <a:t>Looks reasonable: block secrets, block the network tools, deny home, allow cwd.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Problem 1 — on Balfrin/Santis it doesn’t even run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No </a:t>
            </a:r>
            <a:r>
              <a:rPr b="1">
                <a:latin typeface="Courier"/>
              </a:rPr>
              <a:t>socat</a:t>
            </a:r>
            <a:r>
              <a:rPr/>
              <a:t> → the sandbox’s network proxy can’t come up.</a:t>
            </a:r>
          </a:p>
          <a:p>
            <a:pPr lvl="0"/>
            <a:r>
              <a:rPr b="1"/>
              <a:t>No seccomp rules</a:t>
            </a:r>
            <a:r>
              <a:rPr/>
              <a:t> → the “syscall filter is empty” warning — the third wall was never built.</a:t>
            </a:r>
          </a:p>
          <a:p>
            <a:pPr lvl="0"/>
            <a:r>
              <a:rPr/>
              <a:t>With </a:t>
            </a:r>
            <a:r>
              <a:rPr>
                <a:latin typeface="Courier"/>
              </a:rPr>
              <a:t>allowUnsandboxedCommands: false</a:t>
            </a:r>
            <a:r>
              <a:rPr/>
              <a:t>, the agent is </a:t>
            </a:r>
            <a:r>
              <a:rPr b="1"/>
              <a:t>unusable or silently unprotected.</a:t>
            </a:r>
          </a:p>
          <a:p>
            <a:pPr lvl="0" indent="0" marL="0">
              <a:buNone/>
            </a:pPr>
            <a:r>
              <a:rPr b="1"/>
              <a:t>The recommended setup assumes a stock workstation. Ours is a shared HPC login node — it falls over before it starts.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claude-safe makes the cage real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The </a:t>
            </a:r>
            <a:r>
              <a:rPr b="1"/>
              <a:t>install script</a:t>
            </a:r>
            <a:r>
              <a:rPr/>
              <a:t> ships the missing pieces (</a:t>
            </a:r>
            <a:r>
              <a:rPr>
                <a:latin typeface="Courier"/>
              </a:rPr>
              <a:t>socat</a:t>
            </a:r>
            <a:r>
              <a:rPr/>
              <a:t>) so the sandbox </a:t>
            </a:r>
            <a:r>
              <a:rPr b="1"/>
              <a:t>starts.</a:t>
            </a:r>
          </a:p>
          <a:p>
            <a:pPr lvl="0"/>
            <a:r>
              <a:rPr/>
              <a:t>It </a:t>
            </a:r>
            <a:r>
              <a:rPr b="1"/>
              <a:t>fills the seccomp slot</a:t>
            </a:r>
            <a:r>
              <a:rPr/>
              <a:t> — closing </a:t>
            </a:r>
            <a:r>
              <a:rPr>
                <a:latin typeface="Courier"/>
              </a:rPr>
              <a:t>io_uring</a:t>
            </a:r>
            <a:r>
              <a:rPr/>
              <a:t> / </a:t>
            </a:r>
            <a:r>
              <a:rPr>
                <a:latin typeface="Courier"/>
              </a:rPr>
              <a:t>ptrace</a:t>
            </a:r>
            <a:r>
              <a:rPr/>
              <a:t> escape hatches.</a:t>
            </a:r>
          </a:p>
          <a:p>
            <a:pPr lvl="0"/>
            <a:r>
              <a:rPr b="1"/>
              <a:t>Only now</a:t>
            </a:r>
            <a:r>
              <a:rPr/>
              <a:t> is it worth reasoning about config.</a:t>
            </a:r>
          </a:p>
          <a:p>
            <a:pPr lvl="0" indent="0" marL="0">
              <a:buNone/>
            </a:pPr>
            <a:r>
              <a:rPr b="1"/>
              <a:t>First make the cage real. Then it’s worth tuning the bars.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Filesystem has TWO doors — reason about each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79500" y="1384300"/>
          <a:ext cx="7429500" cy="3263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/>
                <a:gridCol w="2476500"/>
                <a:gridCol w="2476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Who uses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Governed by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Read / Write / Edit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mediated tool calls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permissions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arbitrary commands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sandbox.filesystem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Block a path on </a:t>
            </a:r>
            <a:r>
              <a:rPr b="1"/>
              <a:t>both</a:t>
            </a:r>
            <a:r>
              <a:rPr/>
              <a:t> — or </a:t>
            </a:r>
            <a:r>
              <a:rPr>
                <a:latin typeface="Courier"/>
              </a:rPr>
              <a:t>Bash(cat secret)</a:t>
            </a:r>
            <a:r>
              <a:rPr/>
              <a:t> walks through the other.</a:t>
            </a:r>
          </a:p>
          <a:p>
            <a:pPr lvl="0" indent="0" marL="0">
              <a:buNone/>
            </a:pPr>
            <a:r>
              <a:rPr b="1"/>
              <a:t>Two doors into the filesystem. Lock both, or you’ve locked neither.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Deny broad — on a shared machine, </a:t>
            </a:r>
            <a:r>
              <a:rPr>
                <a:latin typeface="Courier"/>
              </a:rPr>
              <a:t>~</a:t>
            </a:r>
            <a:r>
              <a:rPr/>
              <a:t> is not enough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Every user’s home lives under </a:t>
            </a:r>
            <a:r>
              <a:rPr b="1">
                <a:latin typeface="Courier"/>
              </a:rPr>
              <a:t>/users/&lt;name&gt;</a:t>
            </a:r>
            <a:r>
              <a:rPr/>
              <a:t>. Deny only </a:t>
            </a:r>
            <a:r>
              <a:rPr>
                <a:latin typeface="Courier"/>
              </a:rPr>
              <a:t>~</a:t>
            </a:r>
            <a:r>
              <a:rPr/>
              <a:t> and the agent can still read a </a:t>
            </a:r>
            <a:r>
              <a:rPr b="1"/>
              <a:t>colleague’s</a:t>
            </a:r>
            <a:r>
              <a:rPr/>
              <a:t> data.</a:t>
            </a:r>
          </a:p>
          <a:p>
            <a:pPr lvl="0"/>
            <a:r>
              <a:rPr/>
              <a:t>Block the whole </a:t>
            </a:r>
            <a:r>
              <a:rPr>
                <a:latin typeface="Courier"/>
              </a:rPr>
              <a:t>/users/</a:t>
            </a:r>
            <a:r>
              <a:rPr/>
              <a:t> tree — on </a:t>
            </a:r>
            <a:r>
              <a:rPr b="1"/>
              <a:t>both</a:t>
            </a:r>
            <a:r>
              <a:rPr/>
              <a:t> doors:</a:t>
            </a:r>
          </a:p>
          <a:p>
            <a:pPr lvl="0" indent="0">
              <a:buNone/>
            </a:pPr>
            <a:r>
              <a:rPr>
                <a:solidFill>
                  <a:srgbClr val="4070A0"/>
                </a:solidFill>
                <a:latin typeface="Courier"/>
              </a:rPr>
              <a:t>"sandbox"</a:t>
            </a:r>
            <a:r>
              <a:rPr b="1">
                <a:solidFill>
                  <a:srgbClr val="FF0000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"filesystem"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"denyRead"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"/users"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"~"</a:t>
            </a:r>
            <a:r>
              <a:rPr>
                <a:solidFill>
                  <a:srgbClr val="007020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br/>
            <a:r>
              <a:rPr>
                <a:solidFill>
                  <a:srgbClr val="4070A0"/>
                </a:solidFill>
                <a:latin typeface="Courier"/>
              </a:rPr>
              <a:t>"permissions"</a:t>
            </a:r>
            <a:r>
              <a:rPr b="1">
                <a:solidFill>
                  <a:srgbClr val="FF0000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"deny"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"Read(/users/**)"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"Read(~/**)"</a:t>
            </a:r>
            <a:r>
              <a:rPr>
                <a:solidFill>
                  <a:srgbClr val="007020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“Home” isn’t one folder — it’s everyone’s. Deny the whole </a:t>
            </a:r>
            <a:r>
              <a:rPr b="1">
                <a:latin typeface="Courier"/>
              </a:rPr>
              <a:t>/users/</a:t>
            </a:r>
            <a:r>
              <a:rPr b="1"/>
              <a:t> tree.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Allow narrow — at the smallest scope (precedence)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user/global            project (shared)            project-local
~/.claude/settings.json  &lt;  .claude/settings.json  &lt;  .claude/settings.local.json</a:t>
            </a:r>
          </a:p>
          <a:p>
            <a:pPr lvl="0"/>
            <a:r>
              <a:rPr b="1"/>
              <a:t>Shared</a:t>
            </a:r>
            <a:r>
              <a:rPr/>
              <a:t> (e.g. a results dir) → </a:t>
            </a:r>
            <a:r>
              <a:rPr b="1"/>
              <a:t>project config</a:t>
            </a:r>
            <a:r>
              <a:rPr/>
              <a:t> (</a:t>
            </a:r>
            <a:r>
              <a:rPr>
                <a:latin typeface="Courier"/>
              </a:rPr>
              <a:t>allowWrite</a:t>
            </a:r>
            <a:r>
              <a:rPr/>
              <a:t>).</a:t>
            </a:r>
          </a:p>
          <a:p>
            <a:pPr lvl="0"/>
            <a:r>
              <a:rPr b="1"/>
              <a:t>Personal</a:t>
            </a:r>
            <a:r>
              <a:rPr/>
              <a:t> (everyone’s Python lives elsewhere) → </a:t>
            </a:r>
            <a:r>
              <a:rPr b="1">
                <a:latin typeface="Courier"/>
              </a:rPr>
              <a:t>.local.json</a:t>
            </a:r>
            <a:r>
              <a:rPr/>
              <a:t> (</a:t>
            </a:r>
            <a:r>
              <a:rPr>
                <a:latin typeface="Courier"/>
              </a:rPr>
              <a:t>allowRead</a:t>
            </a:r>
            <a:r>
              <a:rPr/>
              <a:t>), so you don’t impose your path on collaborators.</a:t>
            </a:r>
          </a:p>
          <a:p>
            <a:pPr lvl="0" indent="0" marL="0">
              <a:buNone/>
            </a:pPr>
            <a:r>
              <a:rPr b="1"/>
              <a:t>Deny broad, allow narrow — grant each exception at the smallest scope that works.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Footgun — turning the sandbox off persists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Disable the sandbox </a:t>
            </a:r>
            <a:r>
              <a:rPr b="1"/>
              <a:t>once</a:t>
            </a:r>
            <a:r>
              <a:rPr/>
              <a:t> from the CLI → Claude Code </a:t>
            </a:r>
            <a:r>
              <a:rPr b="1"/>
              <a:t>writes it to your project </a:t>
            </a:r>
            <a:r>
              <a:rPr b="1">
                <a:latin typeface="Courier"/>
              </a:rPr>
              <a:t>settings.json</a:t>
            </a:r>
            <a:r>
              <a:rPr/>
              <a:t> and it </a:t>
            </a:r>
            <a:r>
              <a:rPr b="1"/>
              <a:t>stays off</a:t>
            </a:r>
            <a:r>
              <a:rPr/>
              <a:t> for every later run.</a:t>
            </a:r>
          </a:p>
          <a:p>
            <a:pPr lvl="0"/>
            <a:r>
              <a:rPr/>
              <a:t>Silent and sticky — worse if the file is committed (off for </a:t>
            </a:r>
            <a:r>
              <a:rPr b="1"/>
              <a:t>everyone</a:t>
            </a:r>
            <a:r>
              <a:rPr/>
              <a:t>).</a:t>
            </a:r>
          </a:p>
          <a:p>
            <a:pPr lvl="0" indent="0" marL="0">
              <a:buNone/>
            </a:pPr>
            <a:r>
              <a:rPr b="1"/>
              <a:t>One toggle disables the cage for the whole project — and writes it to disk. Check your </a:t>
            </a:r>
            <a:r>
              <a:rPr b="1">
                <a:latin typeface="Courier"/>
              </a:rPr>
              <a:t>settings.json</a:t>
            </a:r>
            <a:r>
              <a:rPr b="1"/>
              <a:t>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uenv — prepare the environment OUTSIDE the cage, first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Your software stack is a </a:t>
            </a:r>
            <a:r>
              <a:rPr b="1"/>
              <a:t>uenv</a:t>
            </a:r>
            <a:r>
              <a:rPr/>
              <a:t> (a mounted squashfs). Mounting needs a </a:t>
            </a:r>
            <a:r>
              <a:rPr b="1"/>
              <a:t>setuid-root</a:t>
            </a:r>
            <a:r>
              <a:rPr/>
              <a:t> helper.</a:t>
            </a:r>
          </a:p>
          <a:p>
            <a:pPr lvl="0"/>
            <a:r>
              <a:rPr/>
              <a:t>The cage sets </a:t>
            </a:r>
            <a:r>
              <a:rPr b="1">
                <a:latin typeface="Courier"/>
              </a:rPr>
              <a:t>NO_NEW_PRIVS</a:t>
            </a:r>
            <a:r>
              <a:rPr/>
              <a:t> → defeats setuid → </a:t>
            </a:r>
            <a:r>
              <a:rPr b="1"/>
              <a:t>can’t mount inside the cage.</a:t>
            </a:r>
          </a:p>
          <a:p>
            <a:pPr lvl="0"/>
            <a:r>
              <a:rPr/>
              <a:t>Correct order: </a:t>
            </a:r>
            <a:r>
              <a:rPr b="1">
                <a:latin typeface="Courier"/>
              </a:rPr>
              <a:t>uenv start &lt;image&gt;</a:t>
            </a:r>
            <a:r>
              <a:rPr b="1"/>
              <a:t> → then launch claude-safe.</a:t>
            </a:r>
            <a:r>
              <a:rPr/>
              <a:t> It inherits the mounted environment.</a:t>
            </a:r>
          </a:p>
          <a:p>
            <a:pPr lvl="0" indent="0" marL="0">
              <a:buNone/>
            </a:pPr>
            <a:r>
              <a:rPr b="1"/>
              <a:t>Prepare the world outside the cage; put the agent in it.</a:t>
            </a:r>
            <a:r>
              <a:rPr/>
              <a:t> </a:t>
            </a:r>
            <a:r>
              <a:rPr i="1"/>
              <a:t>(Same pattern as the broker.)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The honest cost — big folders are slow to warm up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Every Bash command sets up the cage </a:t>
            </a:r>
            <a:r>
              <a:rPr b="1"/>
              <a:t>per command</a:t>
            </a:r>
            <a:r>
              <a:rPr/>
              <a:t> — walking the project tree.</a:t>
            </a:r>
          </a:p>
          <a:p>
            <a:pPr lvl="0"/>
            <a:r>
              <a:rPr/>
              <a:t>On a </a:t>
            </a:r>
            <a:r>
              <a:rPr b="1"/>
              <a:t>large folder on Lustre</a:t>
            </a:r>
            <a:r>
              <a:rPr/>
              <a:t>, the first </a:t>
            </a:r>
            <a:r>
              <a:rPr b="1"/>
              <a:t>~2–3 iterations stall</a:t>
            </a:r>
            <a:r>
              <a:rPr/>
              <a:t> (cold metadata); then cached and fast.</a:t>
            </a:r>
          </a:p>
          <a:p>
            <a:pPr lvl="0" indent="0" marL="0">
              <a:buNone/>
            </a:pPr>
            <a:r>
              <a:rPr b="1"/>
              <a:t>Security has a warm-up cost: the first few iterations pay the tax; the cache pays it back.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18E900B-A219-1EA5-9044-F4A318FA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The punchline: SLURM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The agent has to run a job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It came here to </a:t>
            </a:r>
            <a:r>
              <a:rPr b="1"/>
              <a:t>compute</a:t>
            </a:r>
            <a:r>
              <a:rPr/>
              <a:t> — on an HPC that means one thing: </a:t>
            </a:r>
            <a:r>
              <a:rPr b="1">
                <a:latin typeface="Courier"/>
              </a:rPr>
              <a:t>sbatch</a:t>
            </a:r>
            <a:r>
              <a:rPr b="1"/>
              <a:t>.</a:t>
            </a:r>
          </a:p>
          <a:p>
            <a:pPr lvl="0" indent="0" marL="0">
              <a:buNone/>
            </a:pPr>
            <a:r>
              <a:rPr b="1"/>
              <a:t>Now the agent asks for the one capability the entire cage was built to deny.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Problem 1 — sbatch dies on every layer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Network</a:t>
            </a:r>
            <a:r>
              <a:rPr/>
              <a:t> — sbatch must reach the controller (</a:t>
            </a:r>
            <a:r>
              <a:rPr>
                <a:latin typeface="Courier"/>
              </a:rPr>
              <a:t>slurmctld</a:t>
            </a:r>
            <a:r>
              <a:rPr/>
              <a:t>); the network is locked → no route.</a:t>
            </a:r>
          </a:p>
          <a:p>
            <a:pPr lvl="0"/>
            <a:r>
              <a:rPr b="1"/>
              <a:t>Auth (MUNGE)</a:t>
            </a:r>
            <a:r>
              <a:rPr/>
              <a:t> — the credential comes over an </a:t>
            </a:r>
            <a:r>
              <a:rPr b="1">
                <a:latin typeface="Courier"/>
              </a:rPr>
              <a:t>AF_UNIX</a:t>
            </a:r>
            <a:r>
              <a:rPr b="1"/>
              <a:t> socket</a:t>
            </a:r>
            <a:r>
              <a:rPr/>
              <a:t>; seccomp </a:t>
            </a:r>
            <a:r>
              <a:rPr b="1"/>
              <a:t>blocks </a:t>
            </a:r>
            <a:r>
              <a:rPr b="1">
                <a:latin typeface="Courier"/>
              </a:rPr>
              <a:t>AF_UNIX</a:t>
            </a:r>
            <a:r>
              <a:rPr/>
              <a:t> → no credential.</a:t>
            </a:r>
          </a:p>
          <a:p>
            <a:pPr lvl="0"/>
            <a:r>
              <a:rPr b="1"/>
              <a:t>Filesystem</a:t>
            </a:r>
            <a:r>
              <a:rPr/>
              <a:t> — munge socket, </a:t>
            </a:r>
            <a:r>
              <a:rPr>
                <a:latin typeface="Courier"/>
              </a:rPr>
              <a:t>/etc/slurm</a:t>
            </a:r>
            <a:r>
              <a:rPr/>
              <a:t>, the binary: </a:t>
            </a:r>
            <a:r>
              <a:rPr b="1"/>
              <a:t>not mounted.</a:t>
            </a:r>
          </a:p>
          <a:p>
            <a:pPr lvl="0" indent="0" marL="0">
              <a:buNone/>
            </a:pPr>
            <a:r>
              <a:rPr b="1"/>
              <a:t>The cage is working perfectly. Too perfectly — the agent can’t do its job.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Answer to Problem 1 — the broker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IN THE CAGE                          OUTSIDE THE CAGE (trusted)
  agent → sbatch STUB  ──writes──►  spool file  ──►  BROKER  ──► real sbatch → SLURM
          (dumb serializer)                          (network + MUNGE)</a:t>
            </a:r>
          </a:p>
          <a:p>
            <a:pPr lvl="0"/>
            <a:r>
              <a:rPr/>
              <a:t>The in-sandbox </a:t>
            </a:r>
            <a:r>
              <a:rPr>
                <a:latin typeface="Courier"/>
              </a:rPr>
              <a:t>sbatch</a:t>
            </a:r>
            <a:r>
              <a:rPr/>
              <a:t> is a </a:t>
            </a:r>
            <a:r>
              <a:rPr b="1"/>
              <a:t>dumb serializer</a:t>
            </a:r>
            <a:r>
              <a:rPr/>
              <a:t> — writes a request </a:t>
            </a:r>
            <a:r>
              <a:rPr b="1"/>
              <a:t>file.</a:t>
            </a:r>
          </a:p>
          <a:p>
            <a:pPr lvl="0"/>
            <a:r>
              <a:rPr/>
              <a:t>The </a:t>
            </a:r>
            <a:r>
              <a:rPr b="1"/>
              <a:t>real sbatch lives outside</a:t>
            </a:r>
            <a:r>
              <a:rPr/>
              <a:t>, with the network + MUNGE the sandbox denies.</a:t>
            </a:r>
          </a:p>
          <a:p>
            <a:pPr lvl="0"/>
            <a:r>
              <a:rPr/>
              <a:t>The agent </a:t>
            </a:r>
            <a:r>
              <a:rPr b="1"/>
              <a:t>never touches real sbatch</a:t>
            </a:r>
            <a:r>
              <a:rPr/>
              <a:t> and </a:t>
            </a:r>
            <a:r>
              <a:rPr b="1"/>
              <a:t>can’t reach SLURM directly.</a:t>
            </a:r>
          </a:p>
          <a:p>
            <a:pPr lvl="0" indent="0" marL="0">
              <a:buNone/>
            </a:pPr>
            <a:r>
              <a:rPr b="1"/>
              <a:t>Give back the capability, not the keys.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Problem 2 — the compute node is OUTSIDE the cage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 job runs on the compute node </a:t>
            </a:r>
            <a:r>
              <a:rPr b="1"/>
              <a:t>as the full user, uncaged.</a:t>
            </a:r>
          </a:p>
          <a:p>
            <a:pPr lvl="0"/>
            <a:r>
              <a:rPr/>
              <a:t>It can </a:t>
            </a:r>
            <a:r>
              <a:rPr b="1"/>
              <a:t>edit </a:t>
            </a:r>
            <a:r>
              <a:rPr b="1">
                <a:latin typeface="Courier"/>
              </a:rPr>
              <a:t>~/.claude/settings.json</a:t>
            </a:r>
            <a:r>
              <a:rPr b="1"/>
              <a:t> → disable the sandbox for every future session</a:t>
            </a:r>
            <a:r>
              <a:rPr/>
              <a:t>, read </a:t>
            </a:r>
            <a:r>
              <a:rPr>
                <a:latin typeface="Courier"/>
              </a:rPr>
              <a:t>/users/</a:t>
            </a:r>
            <a:r>
              <a:rPr/>
              <a:t>, exfiltrate — anything the user can.</a:t>
            </a:r>
          </a:p>
          <a:p>
            <a:pPr lvl="0" indent="0" marL="0">
              <a:buNone/>
            </a:pPr>
            <a:r>
              <a:rPr b="1"/>
              <a:t>Submitting a job is a way out of the cage — and a way to rewrite it so it never returns.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Answer to Problem 2 — re-sandbox the job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The broker injects a </a:t>
            </a:r>
            <a:r>
              <a:rPr b="1"/>
              <a:t>re-exec guard</a:t>
            </a:r>
            <a:r>
              <a:rPr/>
              <a:t>: before any agent code runs, the job </a:t>
            </a:r>
            <a:r>
              <a:rPr b="1"/>
              <a:t>re-launches inside the same cage</a:t>
            </a:r>
            <a:r>
              <a:rPr/>
              <a:t> (seccomp + bwrap) on the compute node.</a:t>
            </a:r>
          </a:p>
          <a:p>
            <a:pPr lvl="0"/>
            <a:r>
              <a:rPr/>
              <a:t>It runs as a </a:t>
            </a:r>
            <a:r>
              <a:rPr b="1"/>
              <a:t>Kitten on the compute node too</a:t>
            </a:r>
            <a:r>
              <a:rPr/>
              <a:t> — can’t touch </a:t>
            </a:r>
            <a:r>
              <a:rPr>
                <a:latin typeface="Courier"/>
              </a:rPr>
              <a:t>settings.json</a:t>
            </a:r>
            <a:r>
              <a:rPr/>
              <a:t>, can’t escape.</a:t>
            </a:r>
          </a:p>
          <a:p>
            <a:pPr lvl="0"/>
            <a:r>
              <a:rPr/>
              <a:t>Broker also enforces policy (only the </a:t>
            </a:r>
            <a:r>
              <a:rPr b="1">
                <a:latin typeface="Courier"/>
              </a:rPr>
              <a:t>preemptible</a:t>
            </a:r>
            <a:r>
              <a:rPr/>
              <a:t> queue, inherited uenv).</a:t>
            </a:r>
          </a:p>
          <a:p>
            <a:pPr lvl="0" indent="0" marL="0">
              <a:buNone/>
            </a:pPr>
            <a:r>
              <a:rPr b="1"/>
              <a:t>Kitten on the login node. Kitten on the compute node. No node is outside the cage.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Why it holds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Two holes, two closures:</a:t>
            </a:r>
            <a:r>
              <a:rPr/>
              <a:t> sbatch blocked → broker runs it outside; compute node uncaged → broker re-sandboxes the job.</a:t>
            </a:r>
          </a:p>
          <a:p>
            <a:pPr lvl="0"/>
            <a:r>
              <a:rPr b="1"/>
              <a:t>Non-porous:</a:t>
            </a:r>
            <a:r>
              <a:rPr/>
              <a:t> the </a:t>
            </a:r>
            <a:r>
              <a:rPr b="1"/>
              <a:t>privileged tool never enters</a:t>
            </a:r>
            <a:r>
              <a:rPr/>
              <a:t> the sandbox; the </a:t>
            </a:r>
            <a:r>
              <a:rPr b="1"/>
              <a:t>agent’s code never runs outside</a:t>
            </a:r>
            <a:r>
              <a:rPr/>
              <a:t> one.</a:t>
            </a:r>
          </a:p>
          <a:p>
            <a:pPr lvl="0"/>
            <a:r>
              <a:rPr b="1"/>
              <a:t>Status (honest):</a:t>
            </a:r>
            <a:r>
              <a:rPr/>
              <a:t> first slice — </a:t>
            </a:r>
            <a:r>
              <a:rPr>
                <a:latin typeface="Courier"/>
              </a:rPr>
              <a:t>sbatch</a:t>
            </a:r>
            <a:r>
              <a:rPr/>
              <a:t> — in progress, not battle-tested.</a:t>
            </a:r>
          </a:p>
          <a:p>
            <a:pPr lvl="0" indent="0" marL="0">
              <a:buNone/>
            </a:pPr>
            <a:r>
              <a:rPr b="1"/>
              <a:t>Compute on the whole supercomputer — and never once leave the cage.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18E900B-A219-1EA5-9044-F4A318FA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Status &amp; the bigger idea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Where it stands today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The </a:t>
            </a:r>
            <a:r>
              <a:rPr b="1"/>
              <a:t>broker is being written now.</a:t>
            </a:r>
          </a:p>
          <a:p>
            <a:pPr lvl="0"/>
            <a:r>
              <a:rPr/>
              <a:t>First version: </a:t>
            </a:r>
            <a:r>
              <a:rPr b="1">
                <a:latin typeface="Courier"/>
              </a:rPr>
              <a:t>sbatch</a:t>
            </a:r>
            <a:r>
              <a:rPr b="1"/>
              <a:t> only</a:t>
            </a:r>
            <a:r>
              <a:rPr/>
              <a:t> — fire-and-forget, fully validatable.</a:t>
            </a:r>
          </a:p>
          <a:p>
            <a:pPr lvl="0"/>
            <a:r>
              <a:rPr b="1">
                <a:latin typeface="Courier"/>
              </a:rPr>
              <a:t>srun</a:t>
            </a:r>
            <a:r>
              <a:rPr b="1"/>
              <a:t> / </a:t>
            </a:r>
            <a:r>
              <a:rPr b="1">
                <a:latin typeface="Courier"/>
              </a:rPr>
              <a:t>salloc</a:t>
            </a:r>
            <a:r>
              <a:rPr b="1"/>
              <a:t> are harder</a:t>
            </a:r>
            <a:r>
              <a:rPr/>
              <a:t> — interactive: live I/O, signals, an open allocation; </a:t>
            </a:r>
            <a:r>
              <a:rPr>
                <a:latin typeface="Courier"/>
              </a:rPr>
              <a:t>salloc</a:t>
            </a:r>
            <a:r>
              <a:rPr/>
              <a:t> hands out a shell on compute nodes.</a:t>
            </a:r>
          </a:p>
          <a:p>
            <a:pPr lvl="0" indent="0" marL="0">
              <a:buNone/>
            </a:pPr>
            <a:r>
              <a:rPr b="1"/>
              <a:t>Start with the one-shot case that’s safe to get right. Earn the interactive ones.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Roadmap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Make the </a:t>
            </a:r>
            <a:r>
              <a:rPr>
                <a:latin typeface="Courier"/>
              </a:rPr>
              <a:t>sbatch</a:t>
            </a:r>
            <a:r>
              <a:rPr/>
              <a:t> broker </a:t>
            </a:r>
            <a:r>
              <a:rPr b="1"/>
              <a:t>solid</a:t>
            </a:r>
            <a:r>
              <a:rPr/>
              <a:t> — then </a:t>
            </a:r>
            <a:r>
              <a:rPr>
                <a:latin typeface="Courier"/>
              </a:rPr>
              <a:t>srun</a:t>
            </a:r>
            <a:r>
              <a:rPr/>
              <a:t> / </a:t>
            </a:r>
            <a:r>
              <a:rPr>
                <a:latin typeface="Courier"/>
              </a:rPr>
              <a:t>salloc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Make it real for HPC: </a:t>
            </a:r>
            <a:r>
              <a:rPr b="1"/>
              <a:t>MPI, multi-node</a:t>
            </a:r>
            <a:r>
              <a:rPr/>
              <a:t> through the re-sandboxed path.</a:t>
            </a:r>
          </a:p>
          <a:p>
            <a:pPr lvl="0" indent="-342900" marL="342900">
              <a:buAutoNum type="arabicPeriod"/>
            </a:pPr>
            <a:r>
              <a:rPr b="1"/>
              <a:t>Open the cage to more agents than Claude.</a:t>
            </a:r>
          </a:p>
          <a:p>
            <a:pPr lvl="0" indent="0" marL="0">
              <a:buNone/>
            </a:pPr>
            <a:r>
              <a:rPr b="1"/>
              <a:t>Get it right for one agent and one workload — then generalize.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A containment contract, not a Claude feature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Nothing in the cage is Claude-specific. Any agent that meets the </a:t>
            </a:r>
            <a:r>
              <a:rPr b="1"/>
              <a:t>contract</a:t>
            </a:r>
            <a:r>
              <a:rPr/>
              <a:t> — wrappable bash tool, mediated file tools, privileged steps outside — gets the cage.</a:t>
            </a:r>
          </a:p>
          <a:p>
            <a:pPr lvl="0"/>
            <a:r>
              <a:rPr b="1"/>
              <a:t>Comment &amp; Control broke Claude Code, Gemini CLI, and Copilot with one payload.</a:t>
            </a:r>
            <a:r>
              <a:rPr/>
              <a:t> The threat is </a:t>
            </a:r>
            <a:r>
              <a:rPr b="1"/>
              <a:t>cross-vendor</a:t>
            </a:r>
            <a:r>
              <a:rPr/>
              <a:t> — so the defense should be too.</a:t>
            </a:r>
          </a:p>
          <a:p>
            <a:pPr lvl="0" indent="0" marL="0">
              <a:buNone/>
            </a:pPr>
            <a:r>
              <a:rPr b="1"/>
              <a:t>Don’t build a sandbox for Claude. Build a cage with a contract — and let any agent earn its way in.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Takeaways / Q&amp;A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You </a:t>
            </a:r>
            <a:r>
              <a:rPr b="1"/>
              <a:t>cannot make an agent harmless</a:t>
            </a:r>
            <a:r>
              <a:rPr/>
              <a:t> — injection is structural, the endpoint of a 30-year trend.</a:t>
            </a:r>
          </a:p>
          <a:p>
            <a:pPr lvl="0"/>
            <a:r>
              <a:rPr/>
              <a:t>So you </a:t>
            </a:r>
            <a:r>
              <a:rPr b="1"/>
              <a:t>don’t trust it — you contain it</a:t>
            </a:r>
            <a:r>
              <a:rPr/>
              <a:t> (Lion → Kitten).</a:t>
            </a:r>
          </a:p>
          <a:p>
            <a:pPr lvl="0"/>
            <a:r>
              <a:rPr b="1"/>
              <a:t>claude-safe</a:t>
            </a:r>
            <a:r>
              <a:rPr/>
              <a:t> makes that real on Balfrin/Santis: install, close the syscall hatches, get the config right.</a:t>
            </a:r>
          </a:p>
          <a:p>
            <a:pPr lvl="0"/>
            <a:r>
              <a:rPr b="1"/>
              <a:t>SLURM</a:t>
            </a:r>
            <a:r>
              <a:rPr/>
              <a:t> gives the agent the whole supercomputer </a:t>
            </a:r>
            <a:r>
              <a:rPr b="1"/>
              <a:t>without leaving the cage.</a:t>
            </a:r>
          </a:p>
          <a:p>
            <a:pPr lvl="0" indent="0" marL="0">
              <a:buNone/>
            </a:pPr>
            <a:r>
              <a:rPr b="1"/>
              <a:t>We don’t trust the agent. We contain it.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Sources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Replit — Tom’s Hardware (2025); AI Incident DB #1152</a:t>
            </a:r>
          </a:p>
          <a:p>
            <a:pPr lvl="0"/>
            <a:r>
              <a:rPr/>
              <a:t>Amazon Q — The Register (2025) · EchoLeak — CVE-2025-32711, arXiv 2509.10540</a:t>
            </a:r>
          </a:p>
          <a:p>
            <a:pPr lvl="0"/>
            <a:r>
              <a:rPr/>
              <a:t>PocketOS / Claude Opus 4.6 — The Register, Fast Company (Apr 2026)</a:t>
            </a:r>
          </a:p>
          <a:p>
            <a:pPr lvl="0"/>
            <a:r>
              <a:rPr/>
              <a:t>Comment &amp; Control — </a:t>
            </a:r>
            <a:r>
              <a:rPr b="1"/>
              <a:t>CVE-2026-21520</a:t>
            </a:r>
            <a:r>
              <a:rPr/>
              <a:t>; SecurityWeek, CybersecurityNews (Apr 2026)</a:t>
            </a:r>
          </a:p>
          <a:p>
            <a:pPr lvl="0"/>
            <a:r>
              <a:rPr/>
              <a:t>Prompt injection is structural — </a:t>
            </a:r>
            <a:r>
              <a:rPr b="1"/>
              <a:t>OWASP LLM01:2025</a:t>
            </a:r>
            <a:r>
              <a:rPr/>
              <a:t> (genai.owasp.org)</a:t>
            </a:r>
          </a:p>
          <a:p>
            <a:pPr lvl="0"/>
            <a:r>
              <a:rPr/>
              <a:t>fefe — “Check your privileges!” (32C3 2015); “Das nützlich-unbedenklich Spektrum” (36C3 2019)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dirty="0" lang="de-DE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</p:spTree>
  </p:cSld>
</p:sld>
</file>

<file path=ppt/theme/theme1.xml><?xml version="1.0" encoding="utf-8"?>
<a:theme xmlns:a="http://schemas.openxmlformats.org/drawingml/2006/main" name="Office">
  <a:themeElements>
    <a:clrScheme name="Benutzerdefiniert 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21F2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41" id="{48F695A5-A46A-4E46-8D01-64E065B0D1A0}" vid="{D001F088-EA64-8241-985B-F2BBFFCFBC3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29</Words>
  <Application>Microsoft Office PowerPoint</Application>
  <PresentationFormat>Benutzerdefiniert</PresentationFormat>
  <Paragraphs>5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Containing the agent — claude-safe on CSCS supercomputers (full)</dc:title>
  <dc:creator>Christoph Müller · MeteoSwiss</dc:creator>
  <cp:keywords/>
  <dcterms:created xsi:type="dcterms:W3CDTF">2026-06-16T22:11:06Z</dcterms:created>
  <dcterms:modified xsi:type="dcterms:W3CDTF">2026-06-16T22:11:06Z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