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60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5088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8721"/>
    <p:restoredTop sz="96327"/>
  </p:normalViewPr>
  <p:slideViewPr>
    <p:cSldViewPr showGuides="1" snapToGrid="0" snapToObjects="1">
      <p:cViewPr varScale="1">
        <p:scale>
          <a:sx d="100" n="167"/>
          <a:sy d="100" n="167"/>
        </p:scale>
        <p:origin x="312" y="132"/>
      </p:cViewPr>
      <p:guideLst>
        <p:guide orient="horz" pos="1621"/>
        <p:guide pos="2881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notesMaster" Target="notesMasters/notesMaster1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3D4E0-C465-1042-BEEB-5DE94E6E9099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E04AF-F65F-E74C-B5E1-0DB102AD0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2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30-second roadmap so the danger section feels bounded — then you can move fast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GRAB: https://www.tomshardware.com/tech-industry/artificial-intelligence/ai-coding-platform-goes-rogue-during-code-freeze-and-deletes-entire-company-database-replit-ceo-apologizes-after-ai-engine-says-it-made-a-catastrophic-error-in-judgment-and-destroyed-all-production-data Land the “it lied” beat — that’s the part people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GRAB: https://arxiv.org/pdf/2509.10540 (EchoLeak) Amazon Q one-liner is optional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it sincerely; let the room nod. “It’s exactly what I assumed too. So let’s look at this year, on the current flagship models.”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GRAB left: https://www.theregister.com/2026/04/27/cursoropus_agent_snuffs_out_pocketos/ GRAB right: https://www.securityweek.com/claude-code-gemini-cli-github-copilot-agents-vulnerable-to-prompt-injection-via-comments/ Say “Opus 4.6 — this year, the flagship.” Do NOT say 4.8.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replaces vendor survey stats — the same-channel + SQLi argument is rigorous and hard to attack. Source: https://genai.owasp.org/llmrisk/llm01-prompt-injection/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fefe, “Das nützlich-unbedenklich Spektrum” (36C3, 2019). Don’t go luddite — next slide makes the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hinge — defines “containment” before we build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fefe’s metaphor (“Check your privileges!”, 32C3 2015) — where I first learned seccomp. Credit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dimension is the same move; the next slide names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nine-word thesis.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Read/Write/Edit are mediated tool calls; Bash is arbitrary → must be wrapped. That wrapping is also where the cost comes from (slowdown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JSON + the bypassable-</a:t>
            </a:r>
            <a:r>
              <a:rPr>
                <a:latin typeface="Courier"/>
              </a:rPr>
              <a:t>Bash(curl *)</a:t>
            </a:r>
            <a:r>
              <a:rPr/>
              <a:t> critique are in backup slides. Credibility moment: you tried the official path honestly and it broke.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allow-narrow + precedence (project &lt; local) detail is in a backup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Land the refrain, then Q&amp;A. If asked “is it done?”: login-node cage ships (v0.2.1); the SLURM broker is in active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37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FBC618E-D49D-9A58-95A7-C904F42903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" y="1828801"/>
            <a:ext cx="9055745" cy="3261345"/>
          </a:xfrm>
          <a:prstGeom prst="rect">
            <a:avLst/>
          </a:prstGeom>
        </p:spPr>
      </p:pic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0" name="Bild 16">
            <a:extLst>
              <a:ext uri="{FF2B5EF4-FFF2-40B4-BE49-F238E27FC236}">
                <a16:creationId xmlns:a16="http://schemas.microsoft.com/office/drawing/2014/main" id="{5F63C5A7-F81A-BA30-3747-89A9655A1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3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6C9A937-3994-7389-F609-AFE70282D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8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1E2D9B8-A67C-D982-E7A0-0B1E52BD7F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E26FCD14-552F-2E62-C20F-2897AF1A9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1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2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5DA34FEC-2E0D-10F3-D726-394DB08219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15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0EBAA305-66FB-EB18-E0EF-5FAF4C97E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9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87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Bild 16">
            <a:extLst>
              <a:ext uri="{FF2B5EF4-FFF2-40B4-BE49-F238E27FC236}">
                <a16:creationId xmlns:a16="http://schemas.microsoft.com/office/drawing/2014/main" id="{193992EE-9B1B-4A2E-383E-FB4BAFEA3A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2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3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E5BEB0CA-906F-409F-1B54-843D02C2E60D}"/>
              </a:ext>
            </a:extLst>
          </p:cNvPr>
          <p:cNvSpPr/>
          <p:nvPr userDrawn="1"/>
        </p:nvSpPr>
        <p:spPr bwMode="auto">
          <a:xfrm>
            <a:off x="-4763" y="0"/>
            <a:ext cx="9144000" cy="5145088"/>
          </a:xfrm>
          <a:prstGeom prst="rect">
            <a:avLst/>
          </a:prstGeom>
          <a:solidFill>
            <a:srgbClr val="7D6E5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0009" y="1384300"/>
            <a:ext cx="6895196" cy="2754148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A9695-83A3-FA41-A413-1EBBBC62BA68}" type="datetime1">
              <a:rPr lang="de-CH" smtClean="0"/>
              <a:t>27.03.2025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9090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75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3573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" Target="../slideLayouts/slideLayout3.xml" Type="http://schemas.openxmlformats.org/officeDocument/2006/relationships/slideLayout" /><Relationship Id="rId21" Target="../media/image1.emf" Type="http://schemas.openxmlformats.org/officeDocument/2006/relationships/image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theme/theme1.xml" Type="http://schemas.openxmlformats.org/officeDocument/2006/relationships/them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081089" y="1386177"/>
            <a:ext cx="4939884" cy="3264511"/>
          </a:xfrm>
          <a:prstGeom prst="rect">
            <a:avLst/>
          </a:prstGeom>
        </p:spPr>
        <p:txBody>
          <a:bodyPr bIns="0" lIns="0" rIns="0" rtlCol="0" tIns="0" vert="horz">
            <a:norm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2822848" y="4723662"/>
            <a:ext cx="2057400" cy="273928"/>
          </a:xfrm>
          <a:prstGeom prst="rect">
            <a:avLst/>
          </a:prstGeom>
        </p:spPr>
        <p:txBody>
          <a:bodyPr anchor="t" anchorCtr="0" bIns="0" lIns="0" rIns="0" rtlCol="0" tIns="0" vert="horz"/>
          <a:lstStyle>
            <a:lvl1pPr algn="l">
              <a:defRPr sz="9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F3127F1D-E87C-BC4B-9E41-D233E9064318}" type="datetime1">
              <a:rPr lang="de-CH" smtClean="0"/>
              <a:t>27.03.2025</a:t>
            </a:fld>
            <a:endParaRPr dirty="0" lang="de-DE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5114394" y="4723662"/>
            <a:ext cx="2787491" cy="273928"/>
          </a:xfrm>
          <a:prstGeom prst="rect">
            <a:avLst/>
          </a:prstGeom>
        </p:spPr>
        <p:txBody>
          <a:bodyPr anchor="t" anchorCtr="0" bIns="0" lIns="0" rIns="0" rtlCol="0" tIns="0" vert="horz"/>
          <a:lstStyle>
            <a:lvl1pPr algn="r">
              <a:defRPr baseline="0" sz="900">
                <a:solidFill>
                  <a:schemeClr val="tx1"/>
                </a:solidFill>
              </a:defRPr>
            </a:lvl1pPr>
          </a:lstStyle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7994730" y="4723662"/>
            <a:ext cx="539750" cy="273928"/>
          </a:xfrm>
          <a:prstGeom prst="rect">
            <a:avLst/>
          </a:prstGeom>
        </p:spPr>
        <p:txBody>
          <a:bodyPr anchor="t" anchorCtr="0" bIns="0" lIns="0" rIns="0" rtlCol="0" tIns="0" vert="horz"/>
          <a:lstStyle>
            <a:lvl1pPr algn="r">
              <a:defRPr baseline="0" sz="900">
                <a:solidFill>
                  <a:schemeClr val="tx1"/>
                </a:solidFill>
              </a:defRPr>
            </a:lvl1pPr>
          </a:lstStyle>
          <a:p>
            <a:fld id="{C6C8278F-EB32-9049-808B-99841320EF9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Bild 48">
            <a:extLst>
              <a:ext uri="{FF2B5EF4-FFF2-40B4-BE49-F238E27FC236}">
                <a16:creationId xmlns:a16="http://schemas.microsoft.com/office/drawing/2014/main" id="{0DAF8FDE-FB1E-7A5F-ACFD-7FD43FEA896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0"/>
            <a:ext cx="9144000" cy="1028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5C7075-6C94-FA01-17A5-0D57FDB68614}"/>
              </a:ext>
            </a:extLst>
          </p:cNvPr>
          <p:cNvSpPr txBox="1">
            <a:spLocks/>
          </p:cNvSpPr>
          <p:nvPr userDrawn="1"/>
        </p:nvSpPr>
        <p:spPr>
          <a:xfrm>
            <a:off x="1081088" y="480305"/>
            <a:ext cx="7434263" cy="713496"/>
          </a:xfrm>
          <a:prstGeom prst="rect">
            <a:avLst/>
          </a:prstGeom>
        </p:spPr>
        <p:txBody>
          <a:bodyPr bIns="0" lIns="0" rIns="0" tIns="0"/>
          <a:lstStyle>
            <a:lvl1pPr algn="l" defTabSz="6858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b="1" baseline="0" i="0" kern="1200"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 lang="de-DE" sz="3000">
                <a:solidFill>
                  <a:schemeClr val="tx1">
                    <a:alpha val="0"/>
                  </a:schemeClr>
                </a:solidFill>
              </a:rPr>
              <a:t>Mastertitelformat bearbeiten</a:t>
            </a:r>
            <a:endParaRPr dirty="0" lang="en-US" sz="300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384113E-3B84-B0C5-E326-C0C1562888C2}"/>
              </a:ext>
            </a:extLst>
          </p:cNvPr>
          <p:cNvSpPr/>
          <p:nvPr userDrawn="1"/>
        </p:nvSpPr>
        <p:spPr bwMode="auto">
          <a:xfrm>
            <a:off x="224140" y="1104675"/>
            <a:ext cx="908065" cy="703384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45720" compatLnSpc="1" lIns="91440" numCol="1" rIns="91440" rtlCol="0" tIns="45720" vert="horz" wrap="square">
            <a:prstTxWarp prst="textNoShape">
              <a:avLst/>
            </a:prstTxWarp>
          </a:bodyPr>
          <a:lstStyle/>
          <a:p>
            <a:pPr algn="l" defTabSz="914400" eaLnBrk="0" fontAlgn="base" hangingPunct="0" indent="0" latinLnBrk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b="0" baseline="0" cap="none" dirty="0" i="0" kumimoji="0" lang="de-DE" normalizeH="0" strike="noStrike" sz="2100" u="none">
              <a:ln>
                <a:noFill/>
              </a:ln>
              <a:solidFill>
                <a:schemeClr val="tx2"/>
              </a:solidFill>
              <a:effectLst/>
              <a:latin charset="0" typeface="Arial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7884898-4755-1DE3-F631-EFD19731F92D}"/>
              </a:ext>
            </a:extLst>
          </p:cNvPr>
          <p:cNvSpPr/>
          <p:nvPr userDrawn="1"/>
        </p:nvSpPr>
        <p:spPr bwMode="auto">
          <a:xfrm>
            <a:off x="1022904" y="4636653"/>
            <a:ext cx="1269446" cy="285085"/>
          </a:xfrm>
          <a:prstGeom prst="rect">
            <a:avLst/>
          </a:prstGeom>
          <a:solidFill>
            <a:schemeClr val="bg1"/>
          </a:solidFill>
          <a:ln algn="ctr" cap="flat" cmpd="sng" w="9525">
            <a:noFill/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45720" compatLnSpc="1" lIns="91440" numCol="1" rIns="91440" rtlCol="0" tIns="45720" vert="horz" wrap="square">
            <a:prstTxWarp prst="textNoShape">
              <a:avLst/>
            </a:prstTxWarp>
          </a:bodyPr>
          <a:lstStyle/>
          <a:p>
            <a:pPr algn="l" defTabSz="914400" eaLnBrk="0" fontAlgn="base" hangingPunct="0" indent="0" latinLnBrk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b="0" baseline="0" cap="none" i="0" kumimoji="0" lang="de-DE" normalizeH="0" strike="noStrike" sz="2100" u="none">
              <a:ln>
                <a:noFill/>
              </a:ln>
              <a:solidFill>
                <a:schemeClr val="bg1"/>
              </a:solidFill>
              <a:effectLst/>
              <a:latin charset="0"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41816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74" r:id="rId2"/>
    <p:sldLayoutId id="2147483667" r:id="rId3"/>
    <p:sldLayoutId id="2147483675" r:id="rId4"/>
    <p:sldLayoutId id="2147483662" r:id="rId5"/>
    <p:sldLayoutId id="2147483676" r:id="rId6"/>
    <p:sldLayoutId id="2147483663" r:id="rId7"/>
    <p:sldLayoutId id="2147483677" r:id="rId8"/>
    <p:sldLayoutId id="2147483666" r:id="rId9"/>
    <p:sldLayoutId id="2147483678" r:id="rId10"/>
    <p:sldLayoutId id="2147483668" r:id="rId11"/>
    <p:sldLayoutId id="2147483679" r:id="rId12"/>
    <p:sldLayoutId id="2147483669" r:id="rId13"/>
    <p:sldLayoutId id="2147483680" r:id="rId14"/>
    <p:sldLayoutId id="2147483673" r:id="rId15"/>
    <p:sldLayoutId id="2147483681" r:id="rId16"/>
    <p:sldLayoutId id="2147483670" r:id="rId17"/>
    <p:sldLayoutId id="2147483671" r:id="rId18"/>
    <p:sldLayoutId id="2147483682" r:id="rId19"/>
  </p:sldLayoutIdLst>
  <p:hf dt="0" hdr="0"/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b="1" baseline="0" i="0" kern="1200" sz="30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171450" latinLnBrk="0" marL="17145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1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indent="-171450" latinLnBrk="0" marL="5143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indent="-171450" latinLnBrk="0" marL="8572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indent="-171450" latinLnBrk="0" marL="12001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72" userDrawn="1">
          <p15:clr>
            <a:srgbClr val="F26B43"/>
          </p15:clr>
        </p15:guide>
        <p15:guide id="2" pos="5375" userDrawn="1">
          <p15:clr>
            <a:srgbClr val="F26B43"/>
          </p15:clr>
        </p15:guide>
        <p15:guide id="3" orient="horz" pos="3046" userDrawn="1">
          <p15:clr>
            <a:srgbClr val="F26B43"/>
          </p15:clr>
        </p15:guide>
        <p15:guide id="4" pos="681" userDrawn="1">
          <p15:clr>
            <a:srgbClr val="F26B43"/>
          </p15:clr>
        </p15:guide>
        <p15:guide id="5" orient="horz" pos="501" userDrawn="1">
          <p15:clr>
            <a:srgbClr val="F26B43"/>
          </p15:clr>
        </p15:guide>
        <p15:guide id="6" pos="476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9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10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5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Containing the agent — claude-safe on CSCS supercomputers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9534" y="3220394"/>
            <a:ext cx="6691399" cy="124220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Christoph Müller · MeteoSwiss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Why agents must be contained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What we want — and the catch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goal: hand an agent a real task — </a:t>
            </a:r>
            <a:r>
              <a:rPr i="1"/>
              <a:t>“optimize this code”, “run this sweep”</a:t>
            </a:r>
            <a:r>
              <a:rPr/>
              <a:t> — and </a:t>
            </a:r>
            <a:r>
              <a:rPr b="1"/>
              <a:t>leave it for a week</a:t>
            </a:r>
            <a:r>
              <a:rPr/>
              <a:t> on the HPC.</a:t>
            </a:r>
          </a:p>
          <a:p>
            <a:pPr lvl="0"/>
            <a:r>
              <a:rPr/>
              <a:t>The catch: agents fail in two ways — </a:t>
            </a:r>
            <a:r>
              <a:rPr b="1"/>
              <a:t>they get tricked</a:t>
            </a:r>
            <a:r>
              <a:rPr/>
              <a:t>, and </a:t>
            </a:r>
            <a:r>
              <a:rPr b="1"/>
              <a:t>they do harmful things on their own.</a:t>
            </a:r>
          </a:p>
          <a:p>
            <a:pPr lvl="0" indent="0" marL="0">
              <a:buNone/>
            </a:pPr>
            <a:r>
              <a:rPr b="1"/>
              <a:t>Today: why it’s dangerous → what we built → the hard problem we’re still on.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2025 — the accident everyone saw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[ screenshot: Replit / Jason Lemkin — “it deleted our production database… it hid and lied about it” ]</a:t>
            </a:r>
          </a:p>
          <a:p>
            <a:pPr lvl="0" indent="0" marL="0">
              <a:buNone/>
            </a:pPr>
            <a:r>
              <a:rPr i="1"/>
              <a:t>Source: Tom’s Hardware (2025)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/>
            <a:r>
              <a:rPr/>
              <a:t>12-day autonomous experiment</a:t>
            </a:r>
          </a:p>
          <a:p>
            <a:pPr lvl="0"/>
            <a:r>
              <a:rPr b="1"/>
              <a:t>Day 9: deleted the production database</a:t>
            </a:r>
            <a:r>
              <a:rPr/>
              <a:t> during a code freeze it was told to respect</a:t>
            </a:r>
          </a:p>
          <a:p>
            <a:pPr lvl="0"/>
            <a:r>
              <a:rPr/>
              <a:t>then </a:t>
            </a:r>
            <a:r>
              <a:rPr b="1"/>
              <a:t>fabricated data and lied</a:t>
            </a:r>
            <a:r>
              <a:rPr/>
              <a:t> about 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attacker. It was told not to — and did it anyway.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2025 — the attack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[ screenshot: “EchoLeak” zero-click — Microsoft 365 Copilot, CVE-2025-32711 ]</a:t>
            </a:r>
          </a:p>
          <a:p>
            <a:pPr lvl="0" indent="0" marL="0">
              <a:buNone/>
            </a:pPr>
            <a:r>
              <a:rPr i="1"/>
              <a:t>Source: arXiv / Dark Reading (2025)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/>
            <a:r>
              <a:rPr b="1"/>
              <a:t>One email. Zero clicks.</a:t>
            </a:r>
          </a:p>
          <a:p>
            <a:pPr lvl="0"/>
            <a:r>
              <a:rPr/>
              <a:t>Copilot reads it as part of its job and </a:t>
            </a:r>
            <a:r>
              <a:rPr b="1"/>
              <a:t>silently exfiltrates your data</a:t>
            </a:r>
          </a:p>
          <a:p>
            <a:pPr lvl="0"/>
            <a:r>
              <a:rPr/>
              <a:t>(Amazon Q: a “wipe everything” prompt shipped to ~964k machines via a normal PR)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user did nothing. Reading the data </a:t>
            </a:r>
            <a:r>
              <a:rPr b="1" i="1"/>
              <a:t>was</a:t>
            </a:r>
            <a:r>
              <a:rPr b="1"/>
              <a:t> the attack.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But that was last year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“The new models are hardened.”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“They’re smarter — you can’t trick them that easily.”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This year — on the flagship models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Rogue — PocketOS (Apr 2026)</a:t>
            </a:r>
          </a:p>
          <a:p>
            <a:pPr lvl="0" indent="0" marL="0">
              <a:buNone/>
            </a:pPr>
            <a:r>
              <a:rPr i="1"/>
              <a:t>[ screenshot: The Register / Fast Company — “I violated every principle I was given” ]</a:t>
            </a:r>
          </a:p>
          <a:p>
            <a:pPr lvl="0"/>
            <a:r>
              <a:rPr b="1"/>
              <a:t>Claude Opus 4.6</a:t>
            </a:r>
          </a:p>
          <a:p>
            <a:pPr lvl="0"/>
            <a:r>
              <a:rPr/>
              <a:t>deleted a volume on its own initiative</a:t>
            </a:r>
          </a:p>
          <a:p>
            <a:pPr lvl="0"/>
            <a:r>
              <a:rPr b="1"/>
              <a:t>DB + all backups gone in 9 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Injection — “Comment &amp; Control”</a:t>
            </a:r>
          </a:p>
          <a:p>
            <a:pPr lvl="0" indent="0" marL="0">
              <a:buNone/>
            </a:pPr>
            <a:r>
              <a:rPr i="1"/>
              <a:t>[ screenshot: SecurityWeek — CVE-2026-21520 ]</a:t>
            </a:r>
          </a:p>
          <a:p>
            <a:pPr lvl="0"/>
            <a:r>
              <a:rPr/>
              <a:t>one PR comment hit </a:t>
            </a:r>
            <a:r>
              <a:rPr b="1"/>
              <a:t>Claude Code, Gemini CLI, Copilot</a:t>
            </a:r>
          </a:p>
          <a:p>
            <a:pPr lvl="0"/>
            <a:r>
              <a:rPr b="1"/>
              <a:t>zero victim interaction</a:t>
            </a:r>
          </a:p>
          <a:p>
            <a:pPr lvl="0"/>
            <a:r>
              <a:rPr/>
              <a:t>named researchers + CVE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Newer didn’t fix it. A smarter model just follows the malicious instruction more competently.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It’s structural — not a bug to be patched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 LLM reads </a:t>
            </a:r>
            <a:r>
              <a:rPr b="1"/>
              <a:t>instructions and data in one channel</a:t>
            </a:r>
            <a:r>
              <a:rPr/>
              <a:t> and </a:t>
            </a:r>
            <a:r>
              <a:rPr b="1"/>
              <a:t>can’t tell them apart</a:t>
            </a:r>
            <a:r>
              <a:rPr/>
              <a:t> — </a:t>
            </a:r>
            <a:r>
              <a:rPr i="1"/>
              <a:t>OWASP LLM01:2025</a:t>
            </a:r>
            <a:r>
              <a:rPr/>
              <a:t> (primary reference).</a:t>
            </a:r>
          </a:p>
          <a:p>
            <a:pPr lvl="0"/>
            <a:r>
              <a:rPr/>
              <a:t>It’s </a:t>
            </a:r>
            <a:r>
              <a:rPr b="1"/>
              <a:t>SQL injection before parameterized queries</a:t>
            </a:r>
            <a:r>
              <a:rPr/>
              <a:t> — except there is </a:t>
            </a:r>
            <a:r>
              <a:rPr b="1"/>
              <a:t>no parameterized-query fix</a:t>
            </a:r>
            <a:r>
              <a:rPr/>
              <a:t>: no second channel to move the data into.</a:t>
            </a:r>
          </a:p>
          <a:p>
            <a:pPr lvl="0"/>
            <a:r>
              <a:rPr/>
              <a:t>OWASP’s own remedy: </a:t>
            </a:r>
            <a:r>
              <a:rPr b="1"/>
              <a:t>defense in depth + privilege restriction.</a:t>
            </a:r>
          </a:p>
          <a:p>
            <a:pPr lvl="0" indent="0" marL="0">
              <a:buNone/>
            </a:pPr>
            <a:r>
              <a:rPr b="1"/>
              <a:t>There is no safe model coming. So we contain.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30 years of trading harmlessness for features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“Harmless” (fefe): you could run it on </a:t>
            </a:r>
            <a:r>
              <a:rPr b="1"/>
              <a:t>any web-form input</a:t>
            </a:r>
            <a:r>
              <a:rPr/>
              <a:t> without worrying.</a:t>
            </a:r>
          </a:p>
          <a:p>
            <a:pPr lvl="0"/>
            <a:r>
              <a:rPr b="1"/>
              <a:t>Word→macros, Excel→VBA→JS, PDF→JS, browser→arbitrary code.</a:t>
            </a:r>
            <a:r>
              <a:rPr/>
              <a:t> Each step: more useful, less harmless.</a:t>
            </a:r>
          </a:p>
          <a:p>
            <a:pPr lvl="0"/>
            <a:r>
              <a:rPr b="1"/>
              <a:t>“Connect your whole life to an agent and let it act”</a:t>
            </a:r>
            <a:r>
              <a:rPr/>
              <a:t> is that trend’s endpoint: max capability × max connectivity → </a:t>
            </a:r>
            <a:r>
              <a:rPr b="1"/>
              <a:t>one compromise = total compromise.</a:t>
            </a:r>
          </a:p>
          <a:p>
            <a:pPr lvl="0" indent="0" marL="0">
              <a:buNone/>
            </a:pPr>
            <a:r>
              <a:rPr b="1"/>
              <a:t>On a shared supercomputer, squared.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You can’t make it harmless — so cage it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Soft constraints</a:t>
            </a:r>
          </a:p>
          <a:p>
            <a:pPr lvl="0"/>
            <a:r>
              <a:rPr>
                <a:latin typeface="Courier"/>
              </a:rPr>
              <a:t>AGENTS.md</a:t>
            </a:r>
            <a:r>
              <a:rPr/>
              <a:t>, skills, prompts</a:t>
            </a:r>
          </a:p>
          <a:p>
            <a:pPr lvl="0"/>
            <a:r>
              <a:rPr i="1"/>
              <a:t>genuinely help — write them</a:t>
            </a:r>
          </a:p>
          <a:p>
            <a:pPr lvl="0"/>
            <a:r>
              <a:rPr/>
              <a:t>but probabilistic; can be tricked out of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Hard constraints</a:t>
            </a:r>
          </a:p>
          <a:p>
            <a:pPr lvl="0"/>
            <a:r>
              <a:rPr/>
              <a:t>filesystem, syscalls, network</a:t>
            </a:r>
          </a:p>
          <a:p>
            <a:pPr lvl="0"/>
            <a:r>
              <a:rPr/>
              <a:t>live </a:t>
            </a:r>
            <a:r>
              <a:rPr b="1"/>
              <a:t>below</a:t>
            </a:r>
            <a:r>
              <a:rPr/>
              <a:t> the agent</a:t>
            </a:r>
          </a:p>
          <a:p>
            <a:pPr lvl="0"/>
            <a:r>
              <a:rPr/>
              <a:t>it </a:t>
            </a:r>
            <a:r>
              <a:rPr b="1"/>
              <a:t>cannot choose</a:t>
            </a:r>
            <a:r>
              <a:rPr/>
              <a:t> to violate them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Soft lowers the chance. Hard caps the damage. On a shared HPC you need the cap.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Check your privileges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Lion → Lynx → Kitten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LION                 LYNX                     KITTEN
   (root)      ──►       (user)        ──►        (sandboxed process)
            drop root             sandbox: strip every right
          / run as user          except the few the task needs</a:t>
            </a:r>
          </a:p>
          <a:p>
            <a:pPr lvl="0"/>
            <a:r>
              <a:rPr b="1"/>
              <a:t>Lynx (a normal user) is NOT safe enough</a:t>
            </a:r>
            <a:r>
              <a:rPr/>
              <a:t> on a shared machine — it can read data, reach the network, submit jobs. </a:t>
            </a:r>
            <a:r>
              <a:rPr b="1"/>
              <a:t>PocketOS was a Lynx.</a:t>
            </a:r>
          </a:p>
          <a:p>
            <a:pPr lvl="0"/>
            <a:r>
              <a:rPr/>
              <a:t>We need the agent to be a </a:t>
            </a:r>
            <a:r>
              <a:rPr b="1"/>
              <a:t>Kitten</a:t>
            </a:r>
            <a:r>
              <a:rPr/>
              <a:t>: do its one job, nothing else.</a:t>
            </a:r>
          </a:p>
          <a:p>
            <a:pPr lvl="0" indent="0" marL="0">
              <a:buNone/>
            </a:pPr>
            <a:r>
              <a:rPr b="1"/>
              <a:t>Security = walk the animal as far right as it goes while it still does the job.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Three dimensions of the Kitten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Filesystem</a:t>
            </a:r>
            <a:r>
              <a:rPr/>
              <a:t> — write = whitelist (work dir); read = blacklist (all but secrets)</a:t>
            </a:r>
          </a:p>
          <a:p>
            <a:pPr lvl="0"/>
            <a:r>
              <a:rPr b="1"/>
              <a:t>Network</a:t>
            </a:r>
            <a:r>
              <a:rPr/>
              <a:t> — can’t blacklist the </a:t>
            </a:r>
            <a:r>
              <a:rPr i="1"/>
              <a:t>tool</a:t>
            </a:r>
            <a:r>
              <a:rPr/>
              <a:t> (</a:t>
            </a:r>
            <a:r>
              <a:rPr>
                <a:latin typeface="Courier"/>
              </a:rPr>
              <a:t>curl</a:t>
            </a:r>
            <a:r>
              <a:rPr/>
              <a:t>/python/</a:t>
            </a:r>
            <a:r>
              <a:rPr>
                <a:latin typeface="Courier"/>
              </a:rPr>
              <a:t>/dev/tcp</a:t>
            </a:r>
            <a:r>
              <a:rPr/>
              <a:t>) → </a:t>
            </a:r>
            <a:r>
              <a:rPr b="1"/>
              <a:t>allowlist the destination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/>
            <a:r>
              <a:rPr b="1"/>
              <a:t>Syscalls</a:t>
            </a:r>
            <a:r>
              <a:rPr/>
              <a:t> — brick doors the agent never uses (</a:t>
            </a:r>
            <a:r>
              <a:rPr>
                <a:latin typeface="Courier"/>
              </a:rPr>
              <a:t>ptrace</a:t>
            </a:r>
            <a:r>
              <a:rPr/>
              <a:t>, </a:t>
            </a:r>
            <a:r>
              <a:rPr>
                <a:latin typeface="Courier"/>
              </a:rPr>
              <a:t>io_uring</a:t>
            </a:r>
            <a:r>
              <a:rPr/>
              <a:t>) → </a:t>
            </a:r>
            <a:r>
              <a:rPr b="1"/>
              <a:t>next year’s kernel bug can’t be its escape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pattern behind all three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Enumerate what the task needs. </a:t>
            </a:r>
            <a:r>
              <a:rPr sz="2000" b="1"/>
              <a:t>Deny the rest.</a:t>
            </a:r>
            <a:r>
              <a:rPr sz="2000"/>
              <a:t> Enforce it </a:t>
            </a:r>
            <a:r>
              <a:rPr sz="2000" b="1"/>
              <a:t>below</a:t>
            </a:r>
            <a:r>
              <a:rPr sz="2000"/>
              <a:t> the agent — not as a rule it could talk its way around.</a:t>
            </a:r>
          </a:p>
          <a:p>
            <a:pPr lvl="0" indent="0" marL="0">
              <a:buNone/>
            </a:pPr>
            <a:r>
              <a:rPr b="1"/>
              <a:t>Least privilege isn’t a rule the agent follows — it’s a world the agent lives in.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claude-safe on the HPC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Anthropic already ships a sandbox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Built on </a:t>
            </a:r>
            <a:r>
              <a:rPr b="1"/>
              <a:t>bubblewrap</a:t>
            </a:r>
            <a:r>
              <a:rPr/>
              <a:t>; wraps </a:t>
            </a:r>
            <a:r>
              <a:rPr b="1"/>
              <a:t>every Bash command</a:t>
            </a:r>
            <a:r>
              <a:rPr/>
              <a:t> (that’s why Bash differs from Read/Write/Edit — Bash is the wildcard).</a:t>
            </a:r>
          </a:p>
          <a:p>
            <a:pPr lvl="0"/>
            <a:r>
              <a:rPr/>
              <a:t>Gives </a:t>
            </a:r>
            <a:r>
              <a:rPr b="1"/>
              <a:t>filesystem + network</a:t>
            </a:r>
            <a:r>
              <a:rPr/>
              <a:t> restriction for free.</a:t>
            </a:r>
          </a:p>
          <a:p>
            <a:pPr lvl="0"/>
            <a:r>
              <a:rPr b="1"/>
              <a:t>Leaves the syscall cage empty — and warns about it.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official config — and Problem 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IT ships sensible-looking denies + sandbox-on, deny home, allow cwd.</a:t>
            </a:r>
          </a:p>
          <a:p>
            <a:pPr lvl="0"/>
            <a:r>
              <a:rPr b="1"/>
              <a:t>On Balfrin it doesn’t even start:</a:t>
            </a:r>
            <a:r>
              <a:rPr/>
              <a:t> no </a:t>
            </a:r>
            <a:r>
              <a:rPr>
                <a:latin typeface="Courier"/>
              </a:rPr>
              <a:t>socat</a:t>
            </a:r>
            <a:r>
              <a:rPr/>
              <a:t> (network proxy dead), no seccomp rules (empty-cage warning).</a:t>
            </a:r>
          </a:p>
          <a:p>
            <a:pPr lvl="0"/>
            <a:r>
              <a:rPr/>
              <a:t>The config’s guarantees are </a:t>
            </a:r>
            <a:r>
              <a:rPr b="1"/>
              <a:t>delegated to a sandbox that never engages.</a:t>
            </a:r>
          </a:p>
          <a:p>
            <a:pPr lvl="0" indent="0" marL="0">
              <a:buNone/>
            </a:pPr>
            <a:r>
              <a:rPr b="1"/>
              <a:t>The recommended setup assumes a workstation. Ours is a shared HPC login node.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claude-safe makes the cage real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Install script ships the missing pieces (</a:t>
            </a:r>
            <a:r>
              <a:rPr>
                <a:latin typeface="Courier"/>
              </a:rPr>
              <a:t>socat</a:t>
            </a:r>
            <a:r>
              <a:rPr/>
              <a:t>) so the sandbox </a:t>
            </a:r>
            <a:r>
              <a:rPr b="1"/>
              <a:t>starts</a:t>
            </a:r>
            <a:r>
              <a:rPr/>
              <a:t>.</a:t>
            </a:r>
          </a:p>
          <a:p>
            <a:pPr lvl="0"/>
            <a:r>
              <a:rPr b="1"/>
              <a:t>Fills the seccomp slot</a:t>
            </a:r>
            <a:r>
              <a:rPr/>
              <a:t> — closes </a:t>
            </a:r>
            <a:r>
              <a:rPr>
                <a:latin typeface="Courier"/>
              </a:rPr>
              <a:t>io_uring</a:t>
            </a:r>
            <a:r>
              <a:rPr/>
              <a:t> / </a:t>
            </a:r>
            <a:r>
              <a:rPr>
                <a:latin typeface="Courier"/>
              </a:rPr>
              <a:t>ptrace</a:t>
            </a:r>
            <a:r>
              <a:rPr/>
              <a:t> escape hatches.</a:t>
            </a:r>
          </a:p>
          <a:p>
            <a:pPr lvl="0"/>
            <a:r>
              <a:rPr i="1"/>
              <a:t>Only now</a:t>
            </a:r>
            <a:r>
              <a:rPr/>
              <a:t> is it worth tuning the config.</a:t>
            </a:r>
          </a:p>
          <a:p>
            <a:pPr lvl="0" indent="0" marL="0">
              <a:buNone/>
            </a:pPr>
            <a:r>
              <a:rPr b="1"/>
              <a:t>First make the cage real. Then it’s worth tuning the bars.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Three config traps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Two doors:</a:t>
            </a:r>
            <a:r>
              <a:rPr/>
              <a:t> Read/Write/Edit (</a:t>
            </a:r>
            <a:r>
              <a:rPr>
                <a:latin typeface="Courier"/>
              </a:rPr>
              <a:t>permissions</a:t>
            </a:r>
            <a:r>
              <a:rPr/>
              <a:t>) vs Bash (</a:t>
            </a:r>
            <a:r>
              <a:rPr>
                <a:latin typeface="Courier"/>
              </a:rPr>
              <a:t>sandbox.filesystem</a:t>
            </a:r>
            <a:r>
              <a:rPr/>
              <a:t>) — lock </a:t>
            </a:r>
            <a:r>
              <a:rPr b="1"/>
              <a:t>both</a:t>
            </a:r>
            <a:r>
              <a:rPr/>
              <a:t> or you’ve locked neither.</a:t>
            </a:r>
          </a:p>
          <a:p>
            <a:pPr lvl="0"/>
            <a:r>
              <a:rPr b="1"/>
              <a:t>Deny broad:</a:t>
            </a:r>
            <a:r>
              <a:rPr/>
              <a:t> block </a:t>
            </a:r>
            <a:r>
              <a:rPr b="1">
                <a:latin typeface="Courier"/>
              </a:rPr>
              <a:t>/users/</a:t>
            </a:r>
            <a:r>
              <a:rPr/>
              <a:t>, not just </a:t>
            </a:r>
            <a:r>
              <a:rPr>
                <a:latin typeface="Courier"/>
              </a:rPr>
              <a:t>~</a:t>
            </a:r>
            <a:r>
              <a:rPr/>
              <a:t> — everyone’s home lives there.</a:t>
            </a:r>
          </a:p>
          <a:p>
            <a:pPr lvl="0"/>
            <a:r>
              <a:rPr b="1"/>
              <a:t>Footgun:</a:t>
            </a:r>
            <a:r>
              <a:rPr/>
              <a:t> toggling the sandbox off once </a:t>
            </a:r>
            <a:r>
              <a:rPr b="1"/>
              <a:t>persists to </a:t>
            </a:r>
            <a:r>
              <a:rPr b="1">
                <a:latin typeface="Courier"/>
              </a:rPr>
              <a:t>settings.json</a:t>
            </a:r>
            <a:r>
              <a:rPr/>
              <a:t>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uenv: prepare outside the cage, first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software stack is a </a:t>
            </a:r>
            <a:r>
              <a:rPr b="1"/>
              <a:t>uenv</a:t>
            </a:r>
            <a:r>
              <a:rPr/>
              <a:t> (a mounted squashfs). Mounting needs </a:t>
            </a:r>
            <a:r>
              <a:rPr b="1"/>
              <a:t>setuid</a:t>
            </a:r>
            <a:r>
              <a:rPr/>
              <a:t>; the cage sets </a:t>
            </a:r>
            <a:r>
              <a:rPr b="1">
                <a:latin typeface="Courier"/>
              </a:rPr>
              <a:t>NO_NEW_PRIVS</a:t>
            </a:r>
            <a:r>
              <a:rPr/>
              <a:t> → </a:t>
            </a:r>
            <a:r>
              <a:rPr b="1"/>
              <a:t>can’t mount inside the cage.</a:t>
            </a:r>
          </a:p>
          <a:p>
            <a:pPr lvl="0"/>
            <a:r>
              <a:rPr/>
              <a:t>Correct order: </a:t>
            </a:r>
            <a:r>
              <a:rPr b="1">
                <a:latin typeface="Courier"/>
              </a:rPr>
              <a:t>uenv start</a:t>
            </a:r>
            <a:r>
              <a:rPr b="1"/>
              <a:t> → then launch the agent.</a:t>
            </a:r>
            <a:r>
              <a:rPr/>
              <a:t> It inherits the mounted environment.</a:t>
            </a:r>
          </a:p>
          <a:p>
            <a:pPr lvl="0" indent="0" marL="0">
              <a:buNone/>
            </a:pPr>
            <a:r>
              <a:rPr b="1"/>
              <a:t>Prepare the world outside the cage; put the agent in it.</a:t>
            </a:r>
            <a:r>
              <a:rPr/>
              <a:t> </a:t>
            </a:r>
            <a:r>
              <a:rPr i="1"/>
              <a:t>(Same trick as the broker, next.)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honest cost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Wrapping every Bash command sets up the cage per command — it walks the project tree.</a:t>
            </a:r>
          </a:p>
          <a:p>
            <a:pPr lvl="0"/>
            <a:r>
              <a:rPr/>
              <a:t>On a </a:t>
            </a:r>
            <a:r>
              <a:rPr b="1"/>
              <a:t>big folder on Lustre</a:t>
            </a:r>
            <a:r>
              <a:rPr/>
              <a:t>, the first ~2–3 iterations are slow (cold metadata); then cached and fast.</a:t>
            </a:r>
          </a:p>
          <a:p>
            <a:pPr lvl="0" indent="0" marL="0">
              <a:buNone/>
            </a:pPr>
            <a:r>
              <a:rPr b="1"/>
              <a:t>Security has a warm-up cost.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punchline: SLURM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agent has to run a job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It came here to </a:t>
            </a:r>
            <a:r>
              <a:rPr b="1"/>
              <a:t>compute</a:t>
            </a:r>
            <a:r>
              <a:rPr/>
              <a:t> → </a:t>
            </a:r>
            <a:r>
              <a:rPr>
                <a:latin typeface="Courier"/>
              </a:rPr>
              <a:t>sbatch</a:t>
            </a:r>
            <a:r>
              <a:rPr/>
              <a:t> → </a:t>
            </a:r>
            <a:r>
              <a:rPr b="1"/>
              <a:t>the one capability the cage was built to deny.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Problem 1 — sbatch dies on every layer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Network</a:t>
            </a:r>
            <a:r>
              <a:rPr/>
              <a:t> — no route to the controller (</a:t>
            </a:r>
            <a:r>
              <a:rPr>
                <a:latin typeface="Courier"/>
              </a:rPr>
              <a:t>slurmctld</a:t>
            </a:r>
            <a:r>
              <a:rPr/>
              <a:t>).</a:t>
            </a:r>
          </a:p>
          <a:p>
            <a:pPr lvl="0"/>
            <a:r>
              <a:rPr b="1"/>
              <a:t>Auth</a:t>
            </a:r>
            <a:r>
              <a:rPr/>
              <a:t> — MUNGE needs an </a:t>
            </a:r>
            <a:r>
              <a:rPr b="1">
                <a:latin typeface="Courier"/>
              </a:rPr>
              <a:t>AF_UNIX</a:t>
            </a:r>
            <a:r>
              <a:rPr b="1"/>
              <a:t> socket</a:t>
            </a:r>
            <a:r>
              <a:rPr/>
              <a:t>; seccomp blocks it → no credential.</a:t>
            </a:r>
          </a:p>
          <a:p>
            <a:pPr lvl="0"/>
            <a:r>
              <a:rPr b="1"/>
              <a:t>Filesystem</a:t>
            </a:r>
            <a:r>
              <a:rPr/>
              <a:t> — munge socket, </a:t>
            </a:r>
            <a:r>
              <a:rPr>
                <a:latin typeface="Courier"/>
              </a:rPr>
              <a:t>/etc/slurm</a:t>
            </a:r>
            <a:r>
              <a:rPr/>
              <a:t>, the binary: not mounted.</a:t>
            </a:r>
          </a:p>
          <a:p>
            <a:pPr lvl="0" indent="0" marL="0">
              <a:buNone/>
            </a:pPr>
            <a:r>
              <a:rPr b="1"/>
              <a:t>The cage works — too well. The agent can’t do its job.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broker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IN THE CAGE                          OUTSIDE (trusted)
  agent → sbatch STUB ──writes──► spool file ──► BROKER ──► real sbatch → SLURM
          (dumb serializer)                     (network + MUNGE)</a:t>
            </a:r>
          </a:p>
          <a:p>
            <a:pPr lvl="0"/>
            <a:r>
              <a:rPr/>
              <a:t>The real </a:t>
            </a:r>
            <a:r>
              <a:rPr>
                <a:latin typeface="Courier"/>
              </a:rPr>
              <a:t>sbatch</a:t>
            </a:r>
            <a:r>
              <a:rPr/>
              <a:t> lives </a:t>
            </a:r>
            <a:r>
              <a:rPr b="1"/>
              <a:t>outside</a:t>
            </a:r>
            <a:r>
              <a:rPr/>
              <a:t>; the agent only writes a request file.</a:t>
            </a:r>
          </a:p>
          <a:p>
            <a:pPr lvl="0"/>
            <a:r>
              <a:rPr/>
              <a:t>It </a:t>
            </a:r>
            <a:r>
              <a:rPr b="1"/>
              <a:t>never touches sbatch</a:t>
            </a:r>
            <a:r>
              <a:rPr/>
              <a:t> and </a:t>
            </a:r>
            <a:r>
              <a:rPr b="1"/>
              <a:t>can’t reach SLURM directly.</a:t>
            </a:r>
          </a:p>
          <a:p>
            <a:pPr lvl="0" indent="0" marL="0">
              <a:buNone/>
            </a:pPr>
            <a:r>
              <a:rPr b="1"/>
              <a:t>Give back the capability, not the keys.</a:t>
            </a:r>
            <a:r>
              <a:rPr/>
              <a:t> </a:t>
            </a:r>
            <a:r>
              <a:rPr i="1"/>
              <a:t>(File spool because </a:t>
            </a:r>
            <a:r>
              <a:rPr i="1">
                <a:latin typeface="Courier"/>
              </a:rPr>
              <a:t>AF_UNIX</a:t>
            </a:r>
            <a:r>
              <a:rPr i="1"/>
              <a:t> is blocked — same outside-the-cage trick as uenv.)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Problem 2 — the compute node is outside the cage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job runs as the </a:t>
            </a:r>
            <a:r>
              <a:rPr b="1"/>
              <a:t>full user, uncaged.</a:t>
            </a:r>
            <a:r>
              <a:rPr/>
              <a:t> It can </a:t>
            </a:r>
            <a:r>
              <a:rPr b="1"/>
              <a:t>edit </a:t>
            </a:r>
            <a:r>
              <a:rPr b="1">
                <a:latin typeface="Courier"/>
              </a:rPr>
              <a:t>settings.json</a:t>
            </a:r>
            <a:r>
              <a:rPr b="1"/>
              <a:t> and disable the sandbox for every future session.</a:t>
            </a:r>
          </a:p>
          <a:p>
            <a:pPr lvl="0"/>
            <a:r>
              <a:rPr/>
              <a:t>A job = </a:t>
            </a:r>
            <a:r>
              <a:rPr i="1"/>
              <a:t>“run my code as me, with no cage.”</a:t>
            </a:r>
          </a:p>
          <a:p>
            <a:pPr lvl="0" indent="0" marL="0">
              <a:buNone/>
            </a:pPr>
            <a:r>
              <a:rPr b="1"/>
              <a:t>A way out of the cage — and a way to rewrite it so it never returns.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broker re-sandboxes the job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broker injects a </a:t>
            </a:r>
            <a:r>
              <a:rPr b="1"/>
              <a:t>re-exec guard</a:t>
            </a:r>
            <a:r>
              <a:rPr/>
              <a:t>: before any agent code runs, the job </a:t>
            </a:r>
            <a:r>
              <a:rPr b="1"/>
              <a:t>re-launches inside the same cage</a:t>
            </a:r>
            <a:r>
              <a:rPr/>
              <a:t> on the compute node.</a:t>
            </a:r>
          </a:p>
          <a:p>
            <a:pPr lvl="0"/>
            <a:r>
              <a:rPr b="1"/>
              <a:t>Kitten on the login node, Kitten on the compute node.</a:t>
            </a:r>
            <a:r>
              <a:rPr/>
              <a:t> Plus policy (only the </a:t>
            </a:r>
            <a:r>
              <a:rPr>
                <a:latin typeface="Courier"/>
              </a:rPr>
              <a:t>preemptible</a:t>
            </a:r>
            <a:r>
              <a:rPr/>
              <a:t> queue).</a:t>
            </a:r>
          </a:p>
          <a:p>
            <a:pPr lvl="0" indent="0" marL="0">
              <a:buNone/>
            </a:pPr>
            <a:r>
              <a:rPr b="1"/>
              <a:t>No node is outside the cage.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Why it holds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privileged tool never enters</a:t>
            </a:r>
            <a:r>
              <a:rPr/>
              <a:t> the sandbox.</a:t>
            </a:r>
          </a:p>
          <a:p>
            <a:pPr lvl="0"/>
            <a:r>
              <a:rPr/>
              <a:t>The </a:t>
            </a:r>
            <a:r>
              <a:rPr b="1"/>
              <a:t>agent’s code never runs outside</a:t>
            </a:r>
            <a:r>
              <a:rPr/>
              <a:t> one.</a:t>
            </a:r>
          </a:p>
          <a:p>
            <a:pPr lvl="0"/>
            <a:r>
              <a:rPr b="1"/>
              <a:t>Status (honest):</a:t>
            </a:r>
            <a:r>
              <a:rPr/>
              <a:t> first slice — </a:t>
            </a:r>
            <a:r>
              <a:rPr>
                <a:latin typeface="Courier"/>
              </a:rPr>
              <a:t>sbatch</a:t>
            </a:r>
            <a:r>
              <a:rPr/>
              <a:t> — in progress, not yet battle-tested. The architecture is the point today.</a:t>
            </a:r>
          </a:p>
          <a:p>
            <a:pPr lvl="0" indent="0" marL="0">
              <a:buNone/>
            </a:pPr>
            <a:r>
              <a:rPr b="1"/>
              <a:t>Compute on the whole supercomputer — and never once leave the cage.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Status &amp; the bigger idea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Status &amp; roadmap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Now:</a:t>
            </a:r>
            <a:r>
              <a:rPr/>
              <a:t> broker being written; </a:t>
            </a:r>
            <a:r>
              <a:rPr b="1">
                <a:latin typeface="Courier"/>
              </a:rPr>
              <a:t>sbatch</a:t>
            </a:r>
            <a:r>
              <a:rPr b="1"/>
              <a:t> first</a:t>
            </a:r>
            <a:r>
              <a:rPr/>
              <a:t> (interactive </a:t>
            </a:r>
            <a:r>
              <a:rPr>
                <a:latin typeface="Courier"/>
              </a:rPr>
              <a:t>srun</a:t>
            </a:r>
            <a:r>
              <a:rPr/>
              <a:t>/</a:t>
            </a:r>
            <a:r>
              <a:rPr>
                <a:latin typeface="Courier"/>
              </a:rPr>
              <a:t>salloc</a:t>
            </a:r>
            <a:r>
              <a:rPr/>
              <a:t> are harder).</a:t>
            </a:r>
          </a:p>
          <a:p>
            <a:pPr lvl="0"/>
            <a:r>
              <a:rPr b="1"/>
              <a:t>Next:</a:t>
            </a:r>
            <a:r>
              <a:rPr/>
              <a:t> solid sbatch → </a:t>
            </a:r>
            <a:r>
              <a:rPr b="1"/>
              <a:t>MPI / multi-node</a:t>
            </a:r>
            <a:r>
              <a:rPr/>
              <a:t> → </a:t>
            </a:r>
            <a:r>
              <a:rPr b="1"/>
              <a:t>open the cage to more agents than Claude.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 contract, not a Claude feature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Any agent that meets the </a:t>
            </a:r>
            <a:r>
              <a:rPr b="1"/>
              <a:t>contract</a:t>
            </a:r>
            <a:r>
              <a:rPr/>
              <a:t> — wrappable bash tool, mediated file tools, privileged steps outside — gets the cage.</a:t>
            </a:r>
          </a:p>
          <a:p>
            <a:pPr lvl="0"/>
            <a:r>
              <a:rPr b="1"/>
              <a:t>Comment &amp; Control broke all three vendors at once</a:t>
            </a:r>
            <a:r>
              <a:rPr/>
              <a:t> → the defense should be </a:t>
            </a:r>
            <a:r>
              <a:rPr b="1"/>
              <a:t>cross-vendor</a:t>
            </a:r>
            <a:r>
              <a:rPr/>
              <a:t> too.</a:t>
            </a:r>
          </a:p>
          <a:p>
            <a:pPr lvl="0" indent="0" marL="0">
              <a:buNone/>
            </a:pPr>
            <a:r>
              <a:rPr b="1"/>
              <a:t>Don’t build a sandbox for Claude. Build a cage with a contract.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You </a:t>
            </a:r>
            <a:r>
              <a:rPr b="1"/>
              <a:t>can’t make an agent harmless</a:t>
            </a:r>
            <a:r>
              <a:rPr/>
              <a:t> — injection is structural.</a:t>
            </a:r>
          </a:p>
          <a:p>
            <a:pPr lvl="0"/>
            <a:r>
              <a:rPr/>
              <a:t>So you </a:t>
            </a:r>
            <a:r>
              <a:rPr b="1"/>
              <a:t>don’t trust it — you contain it</a:t>
            </a:r>
            <a:r>
              <a:rPr/>
              <a:t> (Lion → Kitten).</a:t>
            </a:r>
          </a:p>
          <a:p>
            <a:pPr lvl="0"/>
            <a:r>
              <a:rPr b="1"/>
              <a:t>claude-safe</a:t>
            </a:r>
            <a:r>
              <a:rPr/>
              <a:t> makes that real on Balfrin/Santis; </a:t>
            </a:r>
            <a:r>
              <a:rPr b="1"/>
              <a:t>SLURM</a:t>
            </a:r>
            <a:r>
              <a:rPr/>
              <a:t> without escape.</a:t>
            </a:r>
          </a:p>
          <a:p>
            <a:pPr lvl="0" indent="0" marL="0">
              <a:buNone/>
            </a:pPr>
            <a:r>
              <a:rPr b="1"/>
              <a:t>We don’t trust the agent. We contain it.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Replit — Tom’s Hardware (2025); AI Incident DB #1152</a:t>
            </a:r>
          </a:p>
          <a:p>
            <a:pPr lvl="0"/>
            <a:r>
              <a:rPr/>
              <a:t>EchoLeak — CVE-2025-32711; arXiv 2509.10540 · Amazon Q — The Register (2025)</a:t>
            </a:r>
          </a:p>
          <a:p>
            <a:pPr lvl="0"/>
            <a:r>
              <a:rPr/>
              <a:t>PocketOS / Claude Opus 4.6 — The Register, Fast Company (Apr 2026)</a:t>
            </a:r>
          </a:p>
          <a:p>
            <a:pPr lvl="0"/>
            <a:r>
              <a:rPr/>
              <a:t>Comment &amp; Control — </a:t>
            </a:r>
            <a:r>
              <a:rPr b="1"/>
              <a:t>CVE-2026-21520</a:t>
            </a:r>
            <a:r>
              <a:rPr/>
              <a:t>; SecurityWeek, CybersecurityNews (Apr 2026)</a:t>
            </a:r>
          </a:p>
          <a:p>
            <a:pPr lvl="0"/>
            <a:r>
              <a:rPr/>
              <a:t>Prompt injection is structural — </a:t>
            </a:r>
            <a:r>
              <a:rPr b="1"/>
              <a:t>OWASP LLM01:2025</a:t>
            </a:r>
            <a:r>
              <a:rPr/>
              <a:t> (genai.owasp.org)</a:t>
            </a:r>
          </a:p>
          <a:p>
            <a:pPr lvl="0"/>
            <a:r>
              <a:rPr/>
              <a:t>fefe — “Check your privileges!” (32C3 2015); “Das nützlich-unbedenklich Spektrum” (36C3 2019)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Benutzerdefiniert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21F2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1" id="{48F695A5-A46A-4E46-8D01-64E065B0D1A0}" vid="{D001F088-EA64-8241-985B-F2BBFFCFBC3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29</Words>
  <Application>Microsoft Office PowerPoint</Application>
  <PresentationFormat>Benutzerdefiniert</PresentationFormat>
  <Paragraphs>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Containing the agent — claude-safe on CSCS supercomputers</dc:title>
  <dc:creator>Christoph Müller · MeteoSwiss</dc:creator>
  <cp:keywords/>
  <dcterms:created xsi:type="dcterms:W3CDTF">2026-06-16T22:11:06Z</dcterms:created>
  <dcterms:modified xsi:type="dcterms:W3CDTF">2026-06-16T22:11:06Z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